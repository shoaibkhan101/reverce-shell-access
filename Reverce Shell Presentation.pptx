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63" r:id="rId3"/>
    <p:sldId id="257" r:id="rId4"/>
    <p:sldId id="258" r:id="rId5"/>
    <p:sldId id="259" r:id="rId6"/>
    <p:sldId id="260" r:id="rId7"/>
    <p:sldId id="261" r:id="rId8"/>
    <p:sldId id="262" r:id="rId9"/>
  </p:sldIdLst>
  <p:sldSz cx="14630400" cy="8229600"/>
  <p:notesSz cx="8229600" cy="146304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5320" autoAdjust="0"/>
  </p:normalViewPr>
  <p:slideViewPr>
    <p:cSldViewPr snapToGrid="0" snapToObjects="1">
      <p:cViewPr varScale="1">
        <p:scale>
          <a:sx n="65" d="100"/>
          <a:sy n="65" d="100"/>
        </p:scale>
        <p:origin x="830"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376312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290246417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jpg"/></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4.jpe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C0C0C"/>
          </a:solidFill>
          <a:ln/>
        </p:spPr>
        <p:txBody>
          <a:bodyPr/>
          <a:lstStyle/>
          <a:p>
            <a:endParaRPr lang="en-US"/>
          </a:p>
        </p:txBody>
      </p:sp>
      <p:sp>
        <p:nvSpPr>
          <p:cNvPr id="3" name="Shape 1"/>
          <p:cNvSpPr/>
          <p:nvPr/>
        </p:nvSpPr>
        <p:spPr>
          <a:xfrm>
            <a:off x="0" y="48987"/>
            <a:ext cx="14630400" cy="8229600"/>
          </a:xfrm>
          <a:prstGeom prst="rect">
            <a:avLst/>
          </a:prstGeom>
          <a:solidFill>
            <a:srgbClr val="272525"/>
          </a:solidFill>
          <a:ln w="13811">
            <a:solidFill>
              <a:srgbClr val="565151"/>
            </a:solidFill>
            <a:prstDash val="solid"/>
          </a:ln>
        </p:spPr>
        <p:txBody>
          <a:bodyPr/>
          <a:lstStyle/>
          <a:p>
            <a:r>
              <a:rPr lang="en-US" dirty="0"/>
              <a:t>`</a:t>
            </a:r>
          </a:p>
        </p:txBody>
      </p:sp>
      <p:pic>
        <p:nvPicPr>
          <p:cNvPr id="4"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5" name="Text 2"/>
          <p:cNvSpPr/>
          <p:nvPr/>
        </p:nvSpPr>
        <p:spPr>
          <a:xfrm>
            <a:off x="6319599" y="2079308"/>
            <a:ext cx="7477601" cy="1666399"/>
          </a:xfrm>
          <a:prstGeom prst="rect">
            <a:avLst/>
          </a:prstGeom>
          <a:noFill/>
          <a:ln/>
        </p:spPr>
        <p:txBody>
          <a:bodyPr wrap="square" rtlCol="0" anchor="t"/>
          <a:lstStyle/>
          <a:p>
            <a:pPr marL="0" indent="0">
              <a:lnSpc>
                <a:spcPts val="6561"/>
              </a:lnSpc>
              <a:buNone/>
            </a:pPr>
            <a:r>
              <a:rPr lang="en-US" sz="5249" b="1" kern="0" spc="-157" dirty="0">
                <a:solidFill>
                  <a:srgbClr val="FFFFFF"/>
                </a:solidFill>
                <a:latin typeface="Inter" pitchFamily="34" charset="0"/>
                <a:ea typeface="Inter" pitchFamily="34" charset="-122"/>
                <a:cs typeface="Inter" pitchFamily="34" charset="-120"/>
              </a:rPr>
              <a:t>Introduction to Reverse Shells</a:t>
            </a:r>
            <a:endParaRPr lang="en-US" sz="5249" dirty="0"/>
          </a:p>
        </p:txBody>
      </p:sp>
      <p:sp>
        <p:nvSpPr>
          <p:cNvPr id="6" name="Text 3"/>
          <p:cNvSpPr/>
          <p:nvPr/>
        </p:nvSpPr>
        <p:spPr>
          <a:xfrm>
            <a:off x="6319599" y="4078962"/>
            <a:ext cx="7477601" cy="1421606"/>
          </a:xfrm>
          <a:prstGeom prst="rect">
            <a:avLst/>
          </a:prstGeom>
          <a:noFill/>
          <a:ln/>
        </p:spPr>
        <p:txBody>
          <a:bodyPr wrap="square" rtlCol="0" anchor="t"/>
          <a:lstStyle/>
          <a:p>
            <a:pPr marL="0" indent="0" algn="just">
              <a:lnSpc>
                <a:spcPts val="2799"/>
              </a:lnSpc>
              <a:buNone/>
            </a:pPr>
            <a:r>
              <a:rPr lang="en-US" kern="0" spc="-35" dirty="0">
                <a:solidFill>
                  <a:srgbClr val="E5E0DF"/>
                </a:solidFill>
                <a:latin typeface="Inter" pitchFamily="34" charset="0"/>
                <a:ea typeface="Inter" pitchFamily="34" charset="-122"/>
                <a:cs typeface="Inter" pitchFamily="34" charset="-120"/>
              </a:rPr>
              <a:t>A reverse shell is a type of malware that allows an attacker to control a compromised computer from a remote location. In this presentation, we'll explore how reverse shells work, the differences between reverse TCP and regular TCP connections, and more.</a:t>
            </a:r>
            <a:endParaRPr lang="en-US" dirty="0"/>
          </a:p>
        </p:txBody>
      </p:sp>
      <p:sp>
        <p:nvSpPr>
          <p:cNvPr id="7" name="Shape 4"/>
          <p:cNvSpPr/>
          <p:nvPr/>
        </p:nvSpPr>
        <p:spPr>
          <a:xfrm>
            <a:off x="6367224" y="5812394"/>
            <a:ext cx="355402" cy="355402"/>
          </a:xfrm>
          <a:prstGeom prst="roundRect">
            <a:avLst>
              <a:gd name="adj" fmla="val 25726039"/>
            </a:avLst>
          </a:prstGeom>
          <a:blipFill dpi="0" rotWithShape="1">
            <a:blip r:embed="rId4">
              <a:extLst>
                <a:ext uri="{28A0092B-C50C-407E-A947-70E740481C1C}">
                  <a14:useLocalDpi xmlns:a14="http://schemas.microsoft.com/office/drawing/2010/main" val="0"/>
                </a:ext>
              </a:extLst>
            </a:blip>
            <a:srcRect/>
            <a:stretch>
              <a:fillRect/>
            </a:stretch>
          </a:blipFill>
          <a:ln w="7620">
            <a:solidFill>
              <a:srgbClr val="FFFFFF"/>
            </a:solidFill>
            <a:prstDash val="solid"/>
          </a:ln>
        </p:spPr>
        <p:txBody>
          <a:bodyPr/>
          <a:lstStyle/>
          <a:p>
            <a:endParaRPr lang="en-US"/>
          </a:p>
        </p:txBody>
      </p:sp>
      <p:sp>
        <p:nvSpPr>
          <p:cNvPr id="9" name="Text 5"/>
          <p:cNvSpPr/>
          <p:nvPr/>
        </p:nvSpPr>
        <p:spPr>
          <a:xfrm>
            <a:off x="6786086" y="5755958"/>
            <a:ext cx="1586270" cy="388858"/>
          </a:xfrm>
          <a:prstGeom prst="rect">
            <a:avLst/>
          </a:prstGeom>
          <a:noFill/>
          <a:ln/>
        </p:spPr>
        <p:txBody>
          <a:bodyPr wrap="none" rtlCol="0" anchor="t"/>
          <a:lstStyle/>
          <a:p>
            <a:pPr marL="0" indent="0" algn="l">
              <a:lnSpc>
                <a:spcPts val="3062"/>
              </a:lnSpc>
              <a:buNone/>
            </a:pPr>
            <a:r>
              <a:rPr lang="en-US" sz="2187" b="1" kern="0" spc="-35" dirty="0">
                <a:solidFill>
                  <a:srgbClr val="E5E0DF"/>
                </a:solidFill>
                <a:latin typeface="Inter" pitchFamily="34" charset="0"/>
                <a:ea typeface="Inter" pitchFamily="34" charset="-122"/>
                <a:cs typeface="Inter" pitchFamily="34" charset="-120"/>
              </a:rPr>
              <a:t>by Death </a:t>
            </a:r>
            <a:r>
              <a:rPr lang="en-US" sz="2187" b="1" kern="0" spc="-35" dirty="0" err="1">
                <a:solidFill>
                  <a:srgbClr val="E5E0DF"/>
                </a:solidFill>
                <a:latin typeface="Inter" pitchFamily="34" charset="0"/>
                <a:ea typeface="Inter" pitchFamily="34" charset="-122"/>
                <a:cs typeface="Inter" pitchFamily="34" charset="-120"/>
              </a:rPr>
              <a:t>Donars</a:t>
            </a:r>
            <a:endParaRPr lang="en-US" sz="2187"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up)">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42" presetClass="entr" presetSubtype="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1000"/>
                                        <p:tgtEl>
                                          <p:spTgt spid="9"/>
                                        </p:tgtEl>
                                      </p:cBhvr>
                                    </p:animEffect>
                                    <p:anim calcmode="lin" valueType="num">
                                      <p:cBhvr>
                                        <p:cTn id="18" dur="1000" fill="hold"/>
                                        <p:tgtEl>
                                          <p:spTgt spid="9"/>
                                        </p:tgtEl>
                                        <p:attrNameLst>
                                          <p:attrName>ppt_x</p:attrName>
                                        </p:attrNameLst>
                                      </p:cBhvr>
                                      <p:tavLst>
                                        <p:tav tm="0">
                                          <p:val>
                                            <p:strVal val="#ppt_x"/>
                                          </p:val>
                                        </p:tav>
                                        <p:tav tm="100000">
                                          <p:val>
                                            <p:strVal val="#ppt_x"/>
                                          </p:val>
                                        </p:tav>
                                      </p:tavLst>
                                    </p:anim>
                                    <p:anim calcmode="lin" valueType="num">
                                      <p:cBhvr>
                                        <p:cTn id="19" dur="1000" fill="hold"/>
                                        <p:tgtEl>
                                          <p:spTgt spid="9"/>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1000"/>
                                        <p:tgtEl>
                                          <p:spTgt spid="7"/>
                                        </p:tgtEl>
                                      </p:cBhvr>
                                    </p:animEffect>
                                    <p:anim calcmode="lin" valueType="num">
                                      <p:cBhvr>
                                        <p:cTn id="23" dur="1000" fill="hold"/>
                                        <p:tgtEl>
                                          <p:spTgt spid="7"/>
                                        </p:tgtEl>
                                        <p:attrNameLst>
                                          <p:attrName>ppt_x</p:attrName>
                                        </p:attrNameLst>
                                      </p:cBhvr>
                                      <p:tavLst>
                                        <p:tav tm="0">
                                          <p:val>
                                            <p:strVal val="#ppt_x"/>
                                          </p:val>
                                        </p:tav>
                                        <p:tav tm="100000">
                                          <p:val>
                                            <p:strVal val="#ppt_x"/>
                                          </p:val>
                                        </p:tav>
                                      </p:tavLst>
                                    </p:anim>
                                    <p:anim calcmode="lin" valueType="num">
                                      <p:cBhvr>
                                        <p:cTn id="24"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9"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C0C0C"/>
          </a:solidFill>
          <a:ln/>
        </p:spPr>
        <p:txBody>
          <a:bodyPr/>
          <a:lstStyle/>
          <a:p>
            <a:endParaRPr lang="en-US"/>
          </a:p>
        </p:txBody>
      </p:sp>
      <p:sp>
        <p:nvSpPr>
          <p:cNvPr id="3" name="Shape 1"/>
          <p:cNvSpPr/>
          <p:nvPr/>
        </p:nvSpPr>
        <p:spPr>
          <a:xfrm>
            <a:off x="0" y="-31828"/>
            <a:ext cx="14630400" cy="8229600"/>
          </a:xfrm>
          <a:prstGeom prst="rect">
            <a:avLst/>
          </a:prstGeom>
          <a:solidFill>
            <a:srgbClr val="272525"/>
          </a:solidFill>
          <a:ln w="13811">
            <a:solidFill>
              <a:srgbClr val="565151"/>
            </a:solidFill>
            <a:prstDash val="solid"/>
          </a:ln>
        </p:spPr>
        <p:txBody>
          <a:bodyPr/>
          <a:lstStyle/>
          <a:p>
            <a:endParaRPr lang="en-US" dirty="0"/>
          </a:p>
        </p:txBody>
      </p:sp>
      <p:sp>
        <p:nvSpPr>
          <p:cNvPr id="4" name="Text 2"/>
          <p:cNvSpPr/>
          <p:nvPr/>
        </p:nvSpPr>
        <p:spPr>
          <a:xfrm>
            <a:off x="3477986" y="1252180"/>
            <a:ext cx="5111897" cy="694373"/>
          </a:xfrm>
          <a:prstGeom prst="rect">
            <a:avLst/>
          </a:prstGeom>
          <a:noFill/>
          <a:ln/>
        </p:spPr>
        <p:txBody>
          <a:bodyPr wrap="none" rtlCol="0" anchor="t"/>
          <a:lstStyle/>
          <a:p>
            <a:pPr marL="0" indent="0">
              <a:lnSpc>
                <a:spcPts val="5468"/>
              </a:lnSpc>
              <a:buNone/>
            </a:pPr>
            <a:r>
              <a:rPr lang="en-US" sz="8000" b="1" kern="0" spc="-131" dirty="0">
                <a:solidFill>
                  <a:srgbClr val="FFFFFF"/>
                </a:solidFill>
                <a:latin typeface="Inter" pitchFamily="34" charset="0"/>
                <a:ea typeface="Inter" pitchFamily="34" charset="-122"/>
              </a:rPr>
              <a:t>Death Donar’s</a:t>
            </a:r>
            <a:endParaRPr lang="en-US" sz="8000" dirty="0"/>
          </a:p>
        </p:txBody>
      </p:sp>
      <p:sp>
        <p:nvSpPr>
          <p:cNvPr id="8" name="Rectangle 7">
            <a:extLst>
              <a:ext uri="{FF2B5EF4-FFF2-40B4-BE49-F238E27FC236}">
                <a16:creationId xmlns:a16="http://schemas.microsoft.com/office/drawing/2014/main" id="{802D35E3-DFD3-5CD9-6A03-ACB3A2965BB5}"/>
              </a:ext>
            </a:extLst>
          </p:cNvPr>
          <p:cNvSpPr/>
          <p:nvPr/>
        </p:nvSpPr>
        <p:spPr>
          <a:xfrm>
            <a:off x="9128318" y="5170912"/>
            <a:ext cx="1847850" cy="17481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latin typeface="Rockwell" panose="02060603020205020403" pitchFamily="18" charset="0"/>
              </a:rPr>
              <a:t>Shoaib Khan </a:t>
            </a:r>
            <a:br>
              <a:rPr lang="en-US" dirty="0"/>
            </a:br>
            <a:endParaRPr lang="en-US" dirty="0"/>
          </a:p>
        </p:txBody>
      </p:sp>
      <p:sp>
        <p:nvSpPr>
          <p:cNvPr id="10" name="Rectangle 9">
            <a:extLst>
              <a:ext uri="{FF2B5EF4-FFF2-40B4-BE49-F238E27FC236}">
                <a16:creationId xmlns:a16="http://schemas.microsoft.com/office/drawing/2014/main" id="{8394502F-F898-1D77-8D43-42F6FC51BA97}"/>
              </a:ext>
            </a:extLst>
          </p:cNvPr>
          <p:cNvSpPr/>
          <p:nvPr/>
        </p:nvSpPr>
        <p:spPr>
          <a:xfrm>
            <a:off x="8817429" y="5408195"/>
            <a:ext cx="2469631" cy="127362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14B91F6E-BF1A-C764-7683-A5502C9F7994}"/>
              </a:ext>
            </a:extLst>
          </p:cNvPr>
          <p:cNvSpPr/>
          <p:nvPr/>
        </p:nvSpPr>
        <p:spPr>
          <a:xfrm>
            <a:off x="3227756" y="5019025"/>
            <a:ext cx="1847850" cy="17481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err="1">
                <a:latin typeface="Rockwell" panose="02060603020205020403" pitchFamily="18" charset="0"/>
              </a:rPr>
              <a:t>Waqar</a:t>
            </a:r>
            <a:endParaRPr lang="en-US" sz="3200" dirty="0">
              <a:latin typeface="Rockwell" panose="02060603020205020403" pitchFamily="18" charset="0"/>
            </a:endParaRPr>
          </a:p>
          <a:p>
            <a:pPr algn="ctr"/>
            <a:r>
              <a:rPr lang="en-US" sz="3200" dirty="0">
                <a:latin typeface="Rockwell" panose="02060603020205020403" pitchFamily="18" charset="0"/>
              </a:rPr>
              <a:t>Hassan</a:t>
            </a:r>
            <a:endParaRPr lang="en-US" dirty="0"/>
          </a:p>
        </p:txBody>
      </p:sp>
      <p:pic>
        <p:nvPicPr>
          <p:cNvPr id="9" name="Picture 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58939" y="3121495"/>
            <a:ext cx="1986609" cy="1986609"/>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5" name="Picture 4"/>
          <p:cNvPicPr>
            <a:picLocks noChangeAspect="1"/>
          </p:cNvPicPr>
          <p:nvPr/>
        </p:nvPicPr>
        <p:blipFill rotWithShape="1">
          <a:blip r:embed="rId4">
            <a:extLst>
              <a:ext uri="{28A0092B-C50C-407E-A947-70E740481C1C}">
                <a14:useLocalDpi xmlns:a14="http://schemas.microsoft.com/office/drawing/2010/main" val="0"/>
              </a:ext>
            </a:extLst>
          </a:blip>
          <a:srcRect b="30750"/>
          <a:stretch/>
        </p:blipFill>
        <p:spPr>
          <a:xfrm>
            <a:off x="3225412" y="2990853"/>
            <a:ext cx="1899660" cy="1986608"/>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457137658"/>
      </p:ext>
    </p:extLst>
  </p:cSld>
  <p:clrMapOvr>
    <a:masterClrMapping/>
  </p:clrMapOvr>
  <p:transition spd="slow">
    <p:push dir="u"/>
  </p:transition>
</p:sld>
</file>

<file path=ppt/slides/slide3.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C0C0C"/>
          </a:solidFill>
          <a:ln/>
        </p:spPr>
        <p:txBody>
          <a:bodyPr/>
          <a:lstStyle/>
          <a:p>
            <a:endParaRPr lang="en-US"/>
          </a:p>
        </p:txBody>
      </p:sp>
      <p:sp>
        <p:nvSpPr>
          <p:cNvPr id="3" name="Shape 1"/>
          <p:cNvSpPr/>
          <p:nvPr/>
        </p:nvSpPr>
        <p:spPr>
          <a:xfrm>
            <a:off x="-46084" y="0"/>
            <a:ext cx="14630400" cy="8229600"/>
          </a:xfrm>
          <a:prstGeom prst="rect">
            <a:avLst/>
          </a:prstGeom>
          <a:solidFill>
            <a:srgbClr val="272525"/>
          </a:solidFill>
          <a:ln w="13811">
            <a:solidFill>
              <a:srgbClr val="565151"/>
            </a:solidFill>
            <a:prstDash val="solid"/>
          </a:ln>
        </p:spPr>
        <p:txBody>
          <a:bodyPr/>
          <a:lstStyle/>
          <a:p>
            <a:endParaRPr lang="en-US"/>
          </a:p>
        </p:txBody>
      </p:sp>
      <p:sp>
        <p:nvSpPr>
          <p:cNvPr id="4" name="Text 2"/>
          <p:cNvSpPr/>
          <p:nvPr/>
        </p:nvSpPr>
        <p:spPr>
          <a:xfrm>
            <a:off x="2037993" y="1037153"/>
            <a:ext cx="9141381" cy="694373"/>
          </a:xfrm>
          <a:prstGeom prst="rect">
            <a:avLst/>
          </a:prstGeom>
          <a:noFill/>
          <a:ln/>
        </p:spPr>
        <p:txBody>
          <a:bodyPr wrap="none" rtlCol="0" anchor="t"/>
          <a:lstStyle/>
          <a:p>
            <a:pPr marL="0" indent="0">
              <a:lnSpc>
                <a:spcPts val="5468"/>
              </a:lnSpc>
              <a:buNone/>
            </a:pPr>
            <a:r>
              <a:rPr lang="en-US" sz="4374" b="1" kern="0" spc="-131" dirty="0">
                <a:solidFill>
                  <a:srgbClr val="FFFFFF"/>
                </a:solidFill>
                <a:latin typeface="Inter" pitchFamily="34" charset="0"/>
                <a:ea typeface="Inter" pitchFamily="34" charset="-122"/>
                <a:cs typeface="Inter" pitchFamily="34" charset="-120"/>
              </a:rPr>
              <a:t>Examples of Popular Reverse Shells</a:t>
            </a:r>
            <a:endParaRPr lang="en-US" sz="4374" dirty="0"/>
          </a:p>
        </p:txBody>
      </p:sp>
      <p:pic>
        <p:nvPicPr>
          <p:cNvPr id="5" name="Image 0" descr="preencoded.png"/>
          <p:cNvPicPr>
            <a:picLocks noChangeAspect="1"/>
          </p:cNvPicPr>
          <p:nvPr/>
        </p:nvPicPr>
        <p:blipFill>
          <a:blip r:embed="rId3"/>
          <a:stretch>
            <a:fillRect/>
          </a:stretch>
        </p:blipFill>
        <p:spPr>
          <a:xfrm>
            <a:off x="2037993" y="2175867"/>
            <a:ext cx="3295888" cy="2036921"/>
          </a:xfrm>
          <a:prstGeom prst="rect">
            <a:avLst/>
          </a:prstGeom>
        </p:spPr>
      </p:pic>
      <p:sp>
        <p:nvSpPr>
          <p:cNvPr id="6" name="Text 3"/>
          <p:cNvSpPr/>
          <p:nvPr/>
        </p:nvSpPr>
        <p:spPr>
          <a:xfrm>
            <a:off x="2037993" y="4490442"/>
            <a:ext cx="2221944" cy="347186"/>
          </a:xfrm>
          <a:prstGeom prst="rect">
            <a:avLst/>
          </a:prstGeom>
          <a:noFill/>
          <a:ln/>
        </p:spPr>
        <p:txBody>
          <a:bodyPr wrap="none" rtlCol="0" anchor="t"/>
          <a:lstStyle/>
          <a:p>
            <a:pPr marL="0" indent="0" algn="l">
              <a:lnSpc>
                <a:spcPts val="2734"/>
              </a:lnSpc>
              <a:buNone/>
            </a:pPr>
            <a:r>
              <a:rPr lang="en-US" sz="2187" b="1" kern="0" spc="-66" dirty="0">
                <a:solidFill>
                  <a:srgbClr val="FFFFFF"/>
                </a:solidFill>
                <a:latin typeface="Inter" pitchFamily="34" charset="0"/>
                <a:ea typeface="Inter" pitchFamily="34" charset="-122"/>
                <a:cs typeface="Inter" pitchFamily="34" charset="-120"/>
              </a:rPr>
              <a:t>Netcat</a:t>
            </a:r>
            <a:endParaRPr lang="en-US" sz="2187" dirty="0"/>
          </a:p>
        </p:txBody>
      </p:sp>
      <p:sp>
        <p:nvSpPr>
          <p:cNvPr id="7" name="Text 4"/>
          <p:cNvSpPr/>
          <p:nvPr/>
        </p:nvSpPr>
        <p:spPr>
          <a:xfrm>
            <a:off x="2037993" y="5059799"/>
            <a:ext cx="3295888" cy="1814530"/>
          </a:xfrm>
          <a:prstGeom prst="rect">
            <a:avLst/>
          </a:prstGeom>
          <a:noFill/>
          <a:ln/>
        </p:spPr>
        <p:txBody>
          <a:bodyPr wrap="square" rtlCol="0" anchor="t"/>
          <a:lstStyle/>
          <a:p>
            <a:pPr marL="0" indent="0" algn="just">
              <a:lnSpc>
                <a:spcPts val="2799"/>
              </a:lnSpc>
              <a:buNone/>
            </a:pPr>
            <a:r>
              <a:rPr lang="en-US" kern="0" spc="-35" dirty="0">
                <a:solidFill>
                  <a:srgbClr val="E5E0DF"/>
                </a:solidFill>
                <a:latin typeface="Inter" pitchFamily="34" charset="0"/>
                <a:ea typeface="Inter" pitchFamily="34" charset="-122"/>
                <a:cs typeface="Inter" pitchFamily="34" charset="-120"/>
              </a:rPr>
              <a:t>Netcat is one of the most widely used reverse shells. It's a simple and powerful tool that can be used for a variety of tasks.</a:t>
            </a:r>
            <a:endParaRPr lang="en-US" dirty="0"/>
          </a:p>
        </p:txBody>
      </p:sp>
      <p:pic>
        <p:nvPicPr>
          <p:cNvPr id="8" name="Image 1" descr="preencoded.png"/>
          <p:cNvPicPr>
            <a:picLocks noChangeAspect="1"/>
          </p:cNvPicPr>
          <p:nvPr/>
        </p:nvPicPr>
        <p:blipFill>
          <a:blip r:embed="rId4"/>
          <a:stretch>
            <a:fillRect/>
          </a:stretch>
        </p:blipFill>
        <p:spPr>
          <a:xfrm>
            <a:off x="5667137" y="2175867"/>
            <a:ext cx="3296007" cy="2037040"/>
          </a:xfrm>
          <a:prstGeom prst="rect">
            <a:avLst/>
          </a:prstGeom>
        </p:spPr>
      </p:pic>
      <p:sp>
        <p:nvSpPr>
          <p:cNvPr id="9" name="Text 5"/>
          <p:cNvSpPr/>
          <p:nvPr/>
        </p:nvSpPr>
        <p:spPr>
          <a:xfrm>
            <a:off x="5667137" y="4490561"/>
            <a:ext cx="2221944" cy="347186"/>
          </a:xfrm>
          <a:prstGeom prst="rect">
            <a:avLst/>
          </a:prstGeom>
          <a:noFill/>
          <a:ln/>
        </p:spPr>
        <p:txBody>
          <a:bodyPr wrap="none" rtlCol="0" anchor="t"/>
          <a:lstStyle/>
          <a:p>
            <a:pPr marL="0" indent="0" algn="l">
              <a:lnSpc>
                <a:spcPts val="2734"/>
              </a:lnSpc>
              <a:buNone/>
            </a:pPr>
            <a:r>
              <a:rPr lang="en-US" sz="2187" b="1" kern="0" spc="-66" dirty="0">
                <a:solidFill>
                  <a:srgbClr val="FFFFFF"/>
                </a:solidFill>
                <a:latin typeface="Inter" pitchFamily="34" charset="0"/>
                <a:ea typeface="Inter" pitchFamily="34" charset="-122"/>
                <a:cs typeface="Inter" pitchFamily="34" charset="-120"/>
              </a:rPr>
              <a:t>Meterpreter</a:t>
            </a:r>
            <a:endParaRPr lang="en-US" sz="2187" dirty="0"/>
          </a:p>
        </p:txBody>
      </p:sp>
      <p:sp>
        <p:nvSpPr>
          <p:cNvPr id="10" name="Text 6"/>
          <p:cNvSpPr/>
          <p:nvPr/>
        </p:nvSpPr>
        <p:spPr>
          <a:xfrm>
            <a:off x="5667137" y="5059918"/>
            <a:ext cx="3296007" cy="2132409"/>
          </a:xfrm>
          <a:prstGeom prst="rect">
            <a:avLst/>
          </a:prstGeom>
          <a:noFill/>
          <a:ln/>
        </p:spPr>
        <p:txBody>
          <a:bodyPr wrap="square" rtlCol="0" anchor="t"/>
          <a:lstStyle/>
          <a:p>
            <a:pPr marL="0" indent="0" algn="just">
              <a:lnSpc>
                <a:spcPts val="2799"/>
              </a:lnSpc>
              <a:buNone/>
            </a:pPr>
            <a:r>
              <a:rPr lang="en-US" kern="0" spc="-35" dirty="0">
                <a:solidFill>
                  <a:srgbClr val="E5E0DF"/>
                </a:solidFill>
                <a:latin typeface="Inter" pitchFamily="34" charset="0"/>
                <a:ea typeface="Inter" pitchFamily="34" charset="-122"/>
                <a:cs typeface="Inter" pitchFamily="34" charset="-120"/>
              </a:rPr>
              <a:t>Meterpreter is a highly advanced reverse shell that provides a wide range of features and capabilities. It's commonly used in conjunction with the Metasploit framework.</a:t>
            </a:r>
            <a:endParaRPr lang="en-US" dirty="0"/>
          </a:p>
        </p:txBody>
      </p:sp>
      <p:pic>
        <p:nvPicPr>
          <p:cNvPr id="11" name="Image 2" descr="preencoded.png"/>
          <p:cNvPicPr>
            <a:picLocks noChangeAspect="1"/>
          </p:cNvPicPr>
          <p:nvPr/>
        </p:nvPicPr>
        <p:blipFill>
          <a:blip r:embed="rId5"/>
          <a:stretch>
            <a:fillRect/>
          </a:stretch>
        </p:blipFill>
        <p:spPr>
          <a:xfrm>
            <a:off x="9296400" y="2175867"/>
            <a:ext cx="3296007" cy="2037040"/>
          </a:xfrm>
          <a:prstGeom prst="rect">
            <a:avLst/>
          </a:prstGeom>
        </p:spPr>
      </p:pic>
      <p:sp>
        <p:nvSpPr>
          <p:cNvPr id="12" name="Text 7"/>
          <p:cNvSpPr/>
          <p:nvPr/>
        </p:nvSpPr>
        <p:spPr>
          <a:xfrm>
            <a:off x="9296400" y="4490561"/>
            <a:ext cx="2221944" cy="347186"/>
          </a:xfrm>
          <a:prstGeom prst="rect">
            <a:avLst/>
          </a:prstGeom>
          <a:noFill/>
          <a:ln/>
        </p:spPr>
        <p:txBody>
          <a:bodyPr wrap="none" rtlCol="0" anchor="t"/>
          <a:lstStyle/>
          <a:p>
            <a:pPr marL="0" indent="0" algn="l">
              <a:lnSpc>
                <a:spcPts val="2734"/>
              </a:lnSpc>
              <a:buNone/>
            </a:pPr>
            <a:r>
              <a:rPr lang="en-US" sz="2187" b="1" kern="0" spc="-66" dirty="0">
                <a:solidFill>
                  <a:srgbClr val="FFFFFF"/>
                </a:solidFill>
                <a:latin typeface="Inter" pitchFamily="34" charset="0"/>
                <a:ea typeface="Inter" pitchFamily="34" charset="-122"/>
                <a:cs typeface="Inter" pitchFamily="34" charset="-120"/>
              </a:rPr>
              <a:t>PowerShell</a:t>
            </a:r>
            <a:endParaRPr lang="en-US" sz="2187" dirty="0"/>
          </a:p>
        </p:txBody>
      </p:sp>
      <p:sp>
        <p:nvSpPr>
          <p:cNvPr id="13" name="Text 8"/>
          <p:cNvSpPr/>
          <p:nvPr/>
        </p:nvSpPr>
        <p:spPr>
          <a:xfrm>
            <a:off x="9296400" y="5059918"/>
            <a:ext cx="3296007" cy="2132409"/>
          </a:xfrm>
          <a:prstGeom prst="rect">
            <a:avLst/>
          </a:prstGeom>
          <a:noFill/>
          <a:ln/>
        </p:spPr>
        <p:txBody>
          <a:bodyPr wrap="square" rtlCol="0" anchor="t"/>
          <a:lstStyle/>
          <a:p>
            <a:pPr algn="just">
              <a:lnSpc>
                <a:spcPts val="2799"/>
              </a:lnSpc>
            </a:pPr>
            <a:r>
              <a:rPr lang="en-US" kern="0" spc="-35" dirty="0">
                <a:solidFill>
                  <a:srgbClr val="E5E0DF"/>
                </a:solidFill>
                <a:latin typeface="Inter" pitchFamily="34" charset="0"/>
                <a:ea typeface="Inter" pitchFamily="34" charset="-122"/>
                <a:cs typeface="Inter" pitchFamily="34" charset="-120"/>
              </a:rPr>
              <a:t>PowerShell is a Windows tool for automation and scripting. It can also be used to create reverse shells for remote control or malicious purposes.</a:t>
            </a:r>
            <a:endParaRPr lang="en-US" dirty="0"/>
          </a:p>
        </p:txBody>
      </p:sp>
      <p:sp>
        <p:nvSpPr>
          <p:cNvPr id="14" name="Rectangle 1"/>
          <p:cNvSpPr>
            <a:spLocks noChangeArrowheads="1"/>
          </p:cNvSpPr>
          <p:nvPr/>
        </p:nvSpPr>
        <p:spPr bwMode="auto">
          <a:xfrm>
            <a:off x="0" y="0"/>
            <a:ext cx="146304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Meterpreter is an advanced reverse shell with many features. It’s often used alongside the Metasploit framework for hacking and security testing.</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1000"/>
                                        <p:tgtEl>
                                          <p:spTgt spid="5"/>
                                        </p:tgtEl>
                                      </p:cBhvr>
                                    </p:animEffect>
                                    <p:anim calcmode="lin" valueType="num">
                                      <p:cBhvr>
                                        <p:cTn id="13" dur="1000" fill="hold"/>
                                        <p:tgtEl>
                                          <p:spTgt spid="5"/>
                                        </p:tgtEl>
                                        <p:attrNameLst>
                                          <p:attrName>ppt_x</p:attrName>
                                        </p:attrNameLst>
                                      </p:cBhvr>
                                      <p:tavLst>
                                        <p:tav tm="0">
                                          <p:val>
                                            <p:strVal val="#ppt_x"/>
                                          </p:val>
                                        </p:tav>
                                        <p:tav tm="100000">
                                          <p:val>
                                            <p:strVal val="#ppt_x"/>
                                          </p:val>
                                        </p:tav>
                                      </p:tavLst>
                                    </p:anim>
                                    <p:anim calcmode="lin" valueType="num">
                                      <p:cBhvr>
                                        <p:cTn id="14" dur="1000" fill="hold"/>
                                        <p:tgtEl>
                                          <p:spTgt spid="5"/>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1000"/>
                                        <p:tgtEl>
                                          <p:spTgt spid="8"/>
                                        </p:tgtEl>
                                      </p:cBhvr>
                                    </p:animEffect>
                                    <p:anim calcmode="lin" valueType="num">
                                      <p:cBhvr>
                                        <p:cTn id="18" dur="1000" fill="hold"/>
                                        <p:tgtEl>
                                          <p:spTgt spid="8"/>
                                        </p:tgtEl>
                                        <p:attrNameLst>
                                          <p:attrName>ppt_x</p:attrName>
                                        </p:attrNameLst>
                                      </p:cBhvr>
                                      <p:tavLst>
                                        <p:tav tm="0">
                                          <p:val>
                                            <p:strVal val="#ppt_x"/>
                                          </p:val>
                                        </p:tav>
                                        <p:tav tm="100000">
                                          <p:val>
                                            <p:strVal val="#ppt_x"/>
                                          </p:val>
                                        </p:tav>
                                      </p:tavLst>
                                    </p:anim>
                                    <p:anim calcmode="lin" valueType="num">
                                      <p:cBhvr>
                                        <p:cTn id="19" dur="1000" fill="hold"/>
                                        <p:tgtEl>
                                          <p:spTgt spid="8"/>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1000"/>
                                        <p:tgtEl>
                                          <p:spTgt spid="11"/>
                                        </p:tgtEl>
                                      </p:cBhvr>
                                    </p:animEffect>
                                    <p:anim calcmode="lin" valueType="num">
                                      <p:cBhvr>
                                        <p:cTn id="23" dur="1000" fill="hold"/>
                                        <p:tgtEl>
                                          <p:spTgt spid="11"/>
                                        </p:tgtEl>
                                        <p:attrNameLst>
                                          <p:attrName>ppt_x</p:attrName>
                                        </p:attrNameLst>
                                      </p:cBhvr>
                                      <p:tavLst>
                                        <p:tav tm="0">
                                          <p:val>
                                            <p:strVal val="#ppt_x"/>
                                          </p:val>
                                        </p:tav>
                                        <p:tav tm="100000">
                                          <p:val>
                                            <p:strVal val="#ppt_x"/>
                                          </p:val>
                                        </p:tav>
                                      </p:tavLst>
                                    </p:anim>
                                    <p:anim calcmode="lin" valueType="num">
                                      <p:cBhvr>
                                        <p:cTn id="24" dur="1000" fill="hold"/>
                                        <p:tgtEl>
                                          <p:spTgt spid="11"/>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fade">
                                      <p:cBhvr>
                                        <p:cTn id="27" dur="1000"/>
                                        <p:tgtEl>
                                          <p:spTgt spid="6"/>
                                        </p:tgtEl>
                                      </p:cBhvr>
                                    </p:animEffect>
                                    <p:anim calcmode="lin" valueType="num">
                                      <p:cBhvr>
                                        <p:cTn id="28" dur="1000" fill="hold"/>
                                        <p:tgtEl>
                                          <p:spTgt spid="6"/>
                                        </p:tgtEl>
                                        <p:attrNameLst>
                                          <p:attrName>ppt_x</p:attrName>
                                        </p:attrNameLst>
                                      </p:cBhvr>
                                      <p:tavLst>
                                        <p:tav tm="0">
                                          <p:val>
                                            <p:strVal val="#ppt_x"/>
                                          </p:val>
                                        </p:tav>
                                        <p:tav tm="100000">
                                          <p:val>
                                            <p:strVal val="#ppt_x"/>
                                          </p:val>
                                        </p:tav>
                                      </p:tavLst>
                                    </p:anim>
                                    <p:anim calcmode="lin" valueType="num">
                                      <p:cBhvr>
                                        <p:cTn id="29" dur="1000" fill="hold"/>
                                        <p:tgtEl>
                                          <p:spTgt spid="6"/>
                                        </p:tgtEl>
                                        <p:attrNameLst>
                                          <p:attrName>ppt_y</p:attrName>
                                        </p:attrNameLst>
                                      </p:cBhvr>
                                      <p:tavLst>
                                        <p:tav tm="0">
                                          <p:val>
                                            <p:strVal val="#ppt_y+.1"/>
                                          </p:val>
                                        </p:tav>
                                        <p:tav tm="100000">
                                          <p:val>
                                            <p:strVal val="#ppt_y"/>
                                          </p:val>
                                        </p:tav>
                                      </p:tavLst>
                                    </p:anim>
                                  </p:childTnLst>
                                </p:cTn>
                              </p:par>
                              <p:par>
                                <p:cTn id="30" presetID="42" presetClass="entr" presetSubtype="0" fill="hold" grpId="0" nodeType="withEffect">
                                  <p:stCondLst>
                                    <p:cond delay="0"/>
                                  </p:stCondLst>
                                  <p:childTnLst>
                                    <p:set>
                                      <p:cBhvr>
                                        <p:cTn id="31" dur="1" fill="hold">
                                          <p:stCondLst>
                                            <p:cond delay="0"/>
                                          </p:stCondLst>
                                        </p:cTn>
                                        <p:tgtEl>
                                          <p:spTgt spid="7"/>
                                        </p:tgtEl>
                                        <p:attrNameLst>
                                          <p:attrName>style.visibility</p:attrName>
                                        </p:attrNameLst>
                                      </p:cBhvr>
                                      <p:to>
                                        <p:strVal val="visible"/>
                                      </p:to>
                                    </p:set>
                                    <p:animEffect transition="in" filter="fade">
                                      <p:cBhvr>
                                        <p:cTn id="32" dur="1000"/>
                                        <p:tgtEl>
                                          <p:spTgt spid="7"/>
                                        </p:tgtEl>
                                      </p:cBhvr>
                                    </p:animEffect>
                                    <p:anim calcmode="lin" valueType="num">
                                      <p:cBhvr>
                                        <p:cTn id="33" dur="1000" fill="hold"/>
                                        <p:tgtEl>
                                          <p:spTgt spid="7"/>
                                        </p:tgtEl>
                                        <p:attrNameLst>
                                          <p:attrName>ppt_x</p:attrName>
                                        </p:attrNameLst>
                                      </p:cBhvr>
                                      <p:tavLst>
                                        <p:tav tm="0">
                                          <p:val>
                                            <p:strVal val="#ppt_x"/>
                                          </p:val>
                                        </p:tav>
                                        <p:tav tm="100000">
                                          <p:val>
                                            <p:strVal val="#ppt_x"/>
                                          </p:val>
                                        </p:tav>
                                      </p:tavLst>
                                    </p:anim>
                                    <p:anim calcmode="lin" valueType="num">
                                      <p:cBhvr>
                                        <p:cTn id="34" dur="1000" fill="hold"/>
                                        <p:tgtEl>
                                          <p:spTgt spid="7"/>
                                        </p:tgtEl>
                                        <p:attrNameLst>
                                          <p:attrName>ppt_y</p:attrName>
                                        </p:attrNameLst>
                                      </p:cBhvr>
                                      <p:tavLst>
                                        <p:tav tm="0">
                                          <p:val>
                                            <p:strVal val="#ppt_y+.1"/>
                                          </p:val>
                                        </p:tav>
                                        <p:tav tm="100000">
                                          <p:val>
                                            <p:strVal val="#ppt_y"/>
                                          </p:val>
                                        </p:tav>
                                      </p:tavLst>
                                    </p:anim>
                                  </p:childTnLst>
                                </p:cTn>
                              </p:par>
                              <p:par>
                                <p:cTn id="35" presetID="42" presetClass="entr" presetSubtype="0" fill="hold" grpId="0" nodeType="withEffect">
                                  <p:stCondLst>
                                    <p:cond delay="0"/>
                                  </p:stCondLst>
                                  <p:childTnLst>
                                    <p:set>
                                      <p:cBhvr>
                                        <p:cTn id="36" dur="1" fill="hold">
                                          <p:stCondLst>
                                            <p:cond delay="0"/>
                                          </p:stCondLst>
                                        </p:cTn>
                                        <p:tgtEl>
                                          <p:spTgt spid="10"/>
                                        </p:tgtEl>
                                        <p:attrNameLst>
                                          <p:attrName>style.visibility</p:attrName>
                                        </p:attrNameLst>
                                      </p:cBhvr>
                                      <p:to>
                                        <p:strVal val="visible"/>
                                      </p:to>
                                    </p:set>
                                    <p:animEffect transition="in" filter="fade">
                                      <p:cBhvr>
                                        <p:cTn id="37" dur="1000"/>
                                        <p:tgtEl>
                                          <p:spTgt spid="10"/>
                                        </p:tgtEl>
                                      </p:cBhvr>
                                    </p:animEffect>
                                    <p:anim calcmode="lin" valueType="num">
                                      <p:cBhvr>
                                        <p:cTn id="38" dur="1000" fill="hold"/>
                                        <p:tgtEl>
                                          <p:spTgt spid="10"/>
                                        </p:tgtEl>
                                        <p:attrNameLst>
                                          <p:attrName>ppt_x</p:attrName>
                                        </p:attrNameLst>
                                      </p:cBhvr>
                                      <p:tavLst>
                                        <p:tav tm="0">
                                          <p:val>
                                            <p:strVal val="#ppt_x"/>
                                          </p:val>
                                        </p:tav>
                                        <p:tav tm="100000">
                                          <p:val>
                                            <p:strVal val="#ppt_x"/>
                                          </p:val>
                                        </p:tav>
                                      </p:tavLst>
                                    </p:anim>
                                    <p:anim calcmode="lin" valueType="num">
                                      <p:cBhvr>
                                        <p:cTn id="39" dur="1000" fill="hold"/>
                                        <p:tgtEl>
                                          <p:spTgt spid="10"/>
                                        </p:tgtEl>
                                        <p:attrNameLst>
                                          <p:attrName>ppt_y</p:attrName>
                                        </p:attrNameLst>
                                      </p:cBhvr>
                                      <p:tavLst>
                                        <p:tav tm="0">
                                          <p:val>
                                            <p:strVal val="#ppt_y+.1"/>
                                          </p:val>
                                        </p:tav>
                                        <p:tav tm="100000">
                                          <p:val>
                                            <p:strVal val="#ppt_y"/>
                                          </p:val>
                                        </p:tav>
                                      </p:tavLst>
                                    </p:anim>
                                  </p:childTnLst>
                                </p:cTn>
                              </p:par>
                              <p:par>
                                <p:cTn id="40" presetID="42" presetClass="entr" presetSubtype="0" fill="hold" grpId="0" nodeType="withEffect">
                                  <p:stCondLst>
                                    <p:cond delay="0"/>
                                  </p:stCondLst>
                                  <p:childTnLst>
                                    <p:set>
                                      <p:cBhvr>
                                        <p:cTn id="41" dur="1" fill="hold">
                                          <p:stCondLst>
                                            <p:cond delay="0"/>
                                          </p:stCondLst>
                                        </p:cTn>
                                        <p:tgtEl>
                                          <p:spTgt spid="9"/>
                                        </p:tgtEl>
                                        <p:attrNameLst>
                                          <p:attrName>style.visibility</p:attrName>
                                        </p:attrNameLst>
                                      </p:cBhvr>
                                      <p:to>
                                        <p:strVal val="visible"/>
                                      </p:to>
                                    </p:set>
                                    <p:animEffect transition="in" filter="fade">
                                      <p:cBhvr>
                                        <p:cTn id="42" dur="1000"/>
                                        <p:tgtEl>
                                          <p:spTgt spid="9"/>
                                        </p:tgtEl>
                                      </p:cBhvr>
                                    </p:animEffect>
                                    <p:anim calcmode="lin" valueType="num">
                                      <p:cBhvr>
                                        <p:cTn id="43" dur="1000" fill="hold"/>
                                        <p:tgtEl>
                                          <p:spTgt spid="9"/>
                                        </p:tgtEl>
                                        <p:attrNameLst>
                                          <p:attrName>ppt_x</p:attrName>
                                        </p:attrNameLst>
                                      </p:cBhvr>
                                      <p:tavLst>
                                        <p:tav tm="0">
                                          <p:val>
                                            <p:strVal val="#ppt_x"/>
                                          </p:val>
                                        </p:tav>
                                        <p:tav tm="100000">
                                          <p:val>
                                            <p:strVal val="#ppt_x"/>
                                          </p:val>
                                        </p:tav>
                                      </p:tavLst>
                                    </p:anim>
                                    <p:anim calcmode="lin" valueType="num">
                                      <p:cBhvr>
                                        <p:cTn id="44" dur="1000" fill="hold"/>
                                        <p:tgtEl>
                                          <p:spTgt spid="9"/>
                                        </p:tgtEl>
                                        <p:attrNameLst>
                                          <p:attrName>ppt_y</p:attrName>
                                        </p:attrNameLst>
                                      </p:cBhvr>
                                      <p:tavLst>
                                        <p:tav tm="0">
                                          <p:val>
                                            <p:strVal val="#ppt_y+.1"/>
                                          </p:val>
                                        </p:tav>
                                        <p:tav tm="100000">
                                          <p:val>
                                            <p:strVal val="#ppt_y"/>
                                          </p:val>
                                        </p:tav>
                                      </p:tavLst>
                                    </p:anim>
                                  </p:childTnLst>
                                </p:cTn>
                              </p:par>
                              <p:par>
                                <p:cTn id="45" presetID="42" presetClass="entr" presetSubtype="0" fill="hold" grpId="0" nodeType="withEffect">
                                  <p:stCondLst>
                                    <p:cond delay="0"/>
                                  </p:stCondLst>
                                  <p:childTnLst>
                                    <p:set>
                                      <p:cBhvr>
                                        <p:cTn id="46" dur="1" fill="hold">
                                          <p:stCondLst>
                                            <p:cond delay="0"/>
                                          </p:stCondLst>
                                        </p:cTn>
                                        <p:tgtEl>
                                          <p:spTgt spid="12"/>
                                        </p:tgtEl>
                                        <p:attrNameLst>
                                          <p:attrName>style.visibility</p:attrName>
                                        </p:attrNameLst>
                                      </p:cBhvr>
                                      <p:to>
                                        <p:strVal val="visible"/>
                                      </p:to>
                                    </p:set>
                                    <p:animEffect transition="in" filter="fade">
                                      <p:cBhvr>
                                        <p:cTn id="47" dur="1000"/>
                                        <p:tgtEl>
                                          <p:spTgt spid="12"/>
                                        </p:tgtEl>
                                      </p:cBhvr>
                                    </p:animEffect>
                                    <p:anim calcmode="lin" valueType="num">
                                      <p:cBhvr>
                                        <p:cTn id="48" dur="1000" fill="hold"/>
                                        <p:tgtEl>
                                          <p:spTgt spid="12"/>
                                        </p:tgtEl>
                                        <p:attrNameLst>
                                          <p:attrName>ppt_x</p:attrName>
                                        </p:attrNameLst>
                                      </p:cBhvr>
                                      <p:tavLst>
                                        <p:tav tm="0">
                                          <p:val>
                                            <p:strVal val="#ppt_x"/>
                                          </p:val>
                                        </p:tav>
                                        <p:tav tm="100000">
                                          <p:val>
                                            <p:strVal val="#ppt_x"/>
                                          </p:val>
                                        </p:tav>
                                      </p:tavLst>
                                    </p:anim>
                                    <p:anim calcmode="lin" valueType="num">
                                      <p:cBhvr>
                                        <p:cTn id="49" dur="1000" fill="hold"/>
                                        <p:tgtEl>
                                          <p:spTgt spid="12"/>
                                        </p:tgtEl>
                                        <p:attrNameLst>
                                          <p:attrName>ppt_y</p:attrName>
                                        </p:attrNameLst>
                                      </p:cBhvr>
                                      <p:tavLst>
                                        <p:tav tm="0">
                                          <p:val>
                                            <p:strVal val="#ppt_y+.1"/>
                                          </p:val>
                                        </p:tav>
                                        <p:tav tm="100000">
                                          <p:val>
                                            <p:strVal val="#ppt_y"/>
                                          </p:val>
                                        </p:tav>
                                      </p:tavLst>
                                    </p:anim>
                                  </p:childTnLst>
                                </p:cTn>
                              </p:par>
                              <p:par>
                                <p:cTn id="50" presetID="42" presetClass="entr" presetSubtype="0" fill="hold" grpId="0" nodeType="withEffect">
                                  <p:stCondLst>
                                    <p:cond delay="0"/>
                                  </p:stCondLst>
                                  <p:childTnLst>
                                    <p:set>
                                      <p:cBhvr>
                                        <p:cTn id="51" dur="1" fill="hold">
                                          <p:stCondLst>
                                            <p:cond delay="0"/>
                                          </p:stCondLst>
                                        </p:cTn>
                                        <p:tgtEl>
                                          <p:spTgt spid="13"/>
                                        </p:tgtEl>
                                        <p:attrNameLst>
                                          <p:attrName>style.visibility</p:attrName>
                                        </p:attrNameLst>
                                      </p:cBhvr>
                                      <p:to>
                                        <p:strVal val="visible"/>
                                      </p:to>
                                    </p:set>
                                    <p:animEffect transition="in" filter="fade">
                                      <p:cBhvr>
                                        <p:cTn id="52" dur="1000"/>
                                        <p:tgtEl>
                                          <p:spTgt spid="13"/>
                                        </p:tgtEl>
                                      </p:cBhvr>
                                    </p:animEffect>
                                    <p:anim calcmode="lin" valueType="num">
                                      <p:cBhvr>
                                        <p:cTn id="53" dur="1000" fill="hold"/>
                                        <p:tgtEl>
                                          <p:spTgt spid="13"/>
                                        </p:tgtEl>
                                        <p:attrNameLst>
                                          <p:attrName>ppt_x</p:attrName>
                                        </p:attrNameLst>
                                      </p:cBhvr>
                                      <p:tavLst>
                                        <p:tav tm="0">
                                          <p:val>
                                            <p:strVal val="#ppt_x"/>
                                          </p:val>
                                        </p:tav>
                                        <p:tav tm="100000">
                                          <p:val>
                                            <p:strVal val="#ppt_x"/>
                                          </p:val>
                                        </p:tav>
                                      </p:tavLst>
                                    </p:anim>
                                    <p:anim calcmode="lin" valueType="num">
                                      <p:cBhvr>
                                        <p:cTn id="54"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P spid="7" grpId="0" animBg="1"/>
      <p:bldP spid="9" grpId="0" animBg="1"/>
      <p:bldP spid="10" grpId="0" animBg="1"/>
      <p:bldP spid="12" grpId="0" animBg="1"/>
      <p:bldP spid="13"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C0C0C"/>
          </a:solidFill>
          <a:ln/>
        </p:spPr>
        <p:txBody>
          <a:bodyPr/>
          <a:lstStyle/>
          <a:p>
            <a:endParaRPr lang="en-US"/>
          </a:p>
        </p:txBody>
      </p:sp>
      <p:sp>
        <p:nvSpPr>
          <p:cNvPr id="3" name="Shape 1"/>
          <p:cNvSpPr/>
          <p:nvPr/>
        </p:nvSpPr>
        <p:spPr>
          <a:xfrm>
            <a:off x="0" y="0"/>
            <a:ext cx="14630400" cy="8229600"/>
          </a:xfrm>
          <a:prstGeom prst="rect">
            <a:avLst/>
          </a:prstGeom>
          <a:solidFill>
            <a:srgbClr val="272525"/>
          </a:solidFill>
          <a:ln w="12263">
            <a:solidFill>
              <a:srgbClr val="565151"/>
            </a:solidFill>
            <a:prstDash val="solid"/>
          </a:ln>
        </p:spPr>
        <p:txBody>
          <a:bodyPr/>
          <a:lstStyle/>
          <a:p>
            <a:endParaRPr lang="en-US"/>
          </a:p>
        </p:txBody>
      </p:sp>
      <p:pic>
        <p:nvPicPr>
          <p:cNvPr id="4" name="Image 0"/>
          <p:cNvPicPr>
            <a:picLocks noChangeAspect="1"/>
          </p:cNvPicPr>
          <p:nvPr/>
        </p:nvPicPr>
        <p:blipFill>
          <a:blip r:embed="rId3"/>
          <a:srcRect/>
          <a:stretch/>
        </p:blipFill>
        <p:spPr>
          <a:xfrm>
            <a:off x="10972800" y="0"/>
            <a:ext cx="3657600" cy="8229600"/>
          </a:xfrm>
          <a:prstGeom prst="rect">
            <a:avLst/>
          </a:prstGeom>
        </p:spPr>
      </p:pic>
      <p:sp>
        <p:nvSpPr>
          <p:cNvPr id="5" name="Text 2"/>
          <p:cNvSpPr/>
          <p:nvPr/>
        </p:nvSpPr>
        <p:spPr>
          <a:xfrm>
            <a:off x="810935" y="832961"/>
            <a:ext cx="5764054" cy="615196"/>
          </a:xfrm>
          <a:prstGeom prst="rect">
            <a:avLst/>
          </a:prstGeom>
          <a:noFill/>
          <a:ln/>
        </p:spPr>
        <p:txBody>
          <a:bodyPr wrap="none" rtlCol="0" anchor="t"/>
          <a:lstStyle/>
          <a:p>
            <a:pPr marL="0" indent="0">
              <a:lnSpc>
                <a:spcPts val="4844"/>
              </a:lnSpc>
              <a:buNone/>
            </a:pPr>
            <a:r>
              <a:rPr lang="en-US" sz="3875" b="1" kern="0" spc="-116" dirty="0">
                <a:solidFill>
                  <a:srgbClr val="FFFFFF"/>
                </a:solidFill>
                <a:latin typeface="Inter" pitchFamily="34" charset="0"/>
                <a:ea typeface="Inter" pitchFamily="34" charset="-122"/>
                <a:cs typeface="Inter" pitchFamily="34" charset="-120"/>
              </a:rPr>
              <a:t>How Reverse Shells Work</a:t>
            </a:r>
            <a:endParaRPr lang="en-US" sz="3875" dirty="0"/>
          </a:p>
        </p:txBody>
      </p:sp>
      <p:sp>
        <p:nvSpPr>
          <p:cNvPr id="6" name="Shape 3"/>
          <p:cNvSpPr/>
          <p:nvPr/>
        </p:nvSpPr>
        <p:spPr>
          <a:xfrm>
            <a:off x="1086564" y="1743432"/>
            <a:ext cx="39291" cy="5653207"/>
          </a:xfrm>
          <a:prstGeom prst="rect">
            <a:avLst/>
          </a:prstGeom>
          <a:solidFill>
            <a:srgbClr val="140099"/>
          </a:solidFill>
          <a:ln/>
        </p:spPr>
        <p:txBody>
          <a:bodyPr/>
          <a:lstStyle/>
          <a:p>
            <a:endParaRPr lang="en-US"/>
          </a:p>
        </p:txBody>
      </p:sp>
      <p:sp>
        <p:nvSpPr>
          <p:cNvPr id="7" name="Shape 4"/>
          <p:cNvSpPr/>
          <p:nvPr/>
        </p:nvSpPr>
        <p:spPr>
          <a:xfrm>
            <a:off x="1327666" y="2098953"/>
            <a:ext cx="689015" cy="39291"/>
          </a:xfrm>
          <a:prstGeom prst="rect">
            <a:avLst/>
          </a:prstGeom>
          <a:solidFill>
            <a:srgbClr val="140099"/>
          </a:solidFill>
          <a:ln/>
        </p:spPr>
        <p:txBody>
          <a:bodyPr/>
          <a:lstStyle/>
          <a:p>
            <a:endParaRPr lang="en-US"/>
          </a:p>
        </p:txBody>
      </p:sp>
      <p:sp>
        <p:nvSpPr>
          <p:cNvPr id="8" name="Shape 5"/>
          <p:cNvSpPr/>
          <p:nvPr/>
        </p:nvSpPr>
        <p:spPr>
          <a:xfrm>
            <a:off x="884753" y="1897261"/>
            <a:ext cx="442913" cy="442913"/>
          </a:xfrm>
          <a:prstGeom prst="roundRect">
            <a:avLst>
              <a:gd name="adj" fmla="val 20001"/>
            </a:avLst>
          </a:prstGeom>
          <a:solidFill>
            <a:srgbClr val="110080"/>
          </a:solidFill>
          <a:ln w="12263">
            <a:solidFill>
              <a:srgbClr val="140099"/>
            </a:solidFill>
            <a:prstDash val="solid"/>
          </a:ln>
        </p:spPr>
        <p:txBody>
          <a:bodyPr/>
          <a:lstStyle/>
          <a:p>
            <a:endParaRPr lang="en-US"/>
          </a:p>
        </p:txBody>
      </p:sp>
      <p:sp>
        <p:nvSpPr>
          <p:cNvPr id="9" name="Text 6"/>
          <p:cNvSpPr/>
          <p:nvPr/>
        </p:nvSpPr>
        <p:spPr>
          <a:xfrm>
            <a:off x="1042035" y="1934170"/>
            <a:ext cx="128349" cy="369094"/>
          </a:xfrm>
          <a:prstGeom prst="rect">
            <a:avLst/>
          </a:prstGeom>
          <a:noFill/>
          <a:ln/>
        </p:spPr>
        <p:txBody>
          <a:bodyPr wrap="none" rtlCol="0" anchor="t"/>
          <a:lstStyle/>
          <a:p>
            <a:pPr marL="0" indent="0" algn="ctr">
              <a:lnSpc>
                <a:spcPts val="2906"/>
              </a:lnSpc>
              <a:buNone/>
            </a:pPr>
            <a:r>
              <a:rPr lang="en-US" sz="2325" b="1" kern="0" spc="-70" dirty="0">
                <a:solidFill>
                  <a:srgbClr val="E5E0DF"/>
                </a:solidFill>
                <a:latin typeface="Inter" pitchFamily="34" charset="0"/>
                <a:ea typeface="Inter" pitchFamily="34" charset="-122"/>
                <a:cs typeface="Inter" pitchFamily="34" charset="-120"/>
              </a:rPr>
              <a:t>1</a:t>
            </a:r>
            <a:endParaRPr lang="en-US" sz="2325" dirty="0"/>
          </a:p>
        </p:txBody>
      </p:sp>
      <p:sp>
        <p:nvSpPr>
          <p:cNvPr id="10" name="Text 7"/>
          <p:cNvSpPr/>
          <p:nvPr/>
        </p:nvSpPr>
        <p:spPr>
          <a:xfrm>
            <a:off x="2188845" y="1940243"/>
            <a:ext cx="1968579" cy="307538"/>
          </a:xfrm>
          <a:prstGeom prst="rect">
            <a:avLst/>
          </a:prstGeom>
          <a:noFill/>
          <a:ln/>
        </p:spPr>
        <p:txBody>
          <a:bodyPr wrap="none" rtlCol="0" anchor="t"/>
          <a:lstStyle/>
          <a:p>
            <a:pPr marL="0" indent="0" algn="l">
              <a:lnSpc>
                <a:spcPts val="2422"/>
              </a:lnSpc>
              <a:buNone/>
            </a:pPr>
            <a:r>
              <a:rPr lang="en-US" sz="2000" b="1" kern="0" spc="-58" dirty="0">
                <a:solidFill>
                  <a:srgbClr val="E5E0DF"/>
                </a:solidFill>
                <a:latin typeface="Inter" pitchFamily="34" charset="0"/>
                <a:ea typeface="Inter" pitchFamily="34" charset="-122"/>
                <a:cs typeface="Inter" pitchFamily="34" charset="-120"/>
              </a:rPr>
              <a:t>Attack Initiation</a:t>
            </a:r>
            <a:endParaRPr lang="en-US" sz="2000" dirty="0"/>
          </a:p>
        </p:txBody>
      </p:sp>
      <p:sp>
        <p:nvSpPr>
          <p:cNvPr id="11" name="Text 8"/>
          <p:cNvSpPr/>
          <p:nvPr/>
        </p:nvSpPr>
        <p:spPr>
          <a:xfrm>
            <a:off x="2188845" y="2444591"/>
            <a:ext cx="7973020" cy="897970"/>
          </a:xfrm>
          <a:prstGeom prst="rect">
            <a:avLst/>
          </a:prstGeom>
          <a:noFill/>
          <a:ln/>
        </p:spPr>
        <p:txBody>
          <a:bodyPr wrap="square" rtlCol="0" anchor="t"/>
          <a:lstStyle/>
          <a:p>
            <a:pPr marL="0" indent="0" algn="just">
              <a:lnSpc>
                <a:spcPts val="2480"/>
              </a:lnSpc>
              <a:buNone/>
            </a:pPr>
            <a:r>
              <a:rPr lang="en-US" kern="0" spc="-31" dirty="0">
                <a:solidFill>
                  <a:srgbClr val="E5E0DF"/>
                </a:solidFill>
                <a:latin typeface="Inter" pitchFamily="34" charset="0"/>
                <a:ea typeface="Inter" pitchFamily="34" charset="-122"/>
                <a:cs typeface="Inter" pitchFamily="34" charset="-120"/>
              </a:rPr>
              <a:t>The attacker initiates the attack by sending a payload to the victim's computer. This payload typically contains the code necessary to establish a reverse shell.</a:t>
            </a:r>
            <a:endParaRPr lang="en-US" dirty="0"/>
          </a:p>
        </p:txBody>
      </p:sp>
      <p:sp>
        <p:nvSpPr>
          <p:cNvPr id="12" name="Shape 9"/>
          <p:cNvSpPr/>
          <p:nvPr/>
        </p:nvSpPr>
        <p:spPr>
          <a:xfrm>
            <a:off x="1327666" y="3870603"/>
            <a:ext cx="689015" cy="39291"/>
          </a:xfrm>
          <a:prstGeom prst="rect">
            <a:avLst/>
          </a:prstGeom>
          <a:solidFill>
            <a:srgbClr val="140099"/>
          </a:solidFill>
          <a:ln/>
        </p:spPr>
        <p:txBody>
          <a:bodyPr/>
          <a:lstStyle/>
          <a:p>
            <a:endParaRPr lang="en-US"/>
          </a:p>
        </p:txBody>
      </p:sp>
      <p:sp>
        <p:nvSpPr>
          <p:cNvPr id="13" name="Shape 10"/>
          <p:cNvSpPr/>
          <p:nvPr/>
        </p:nvSpPr>
        <p:spPr>
          <a:xfrm>
            <a:off x="884753" y="3668911"/>
            <a:ext cx="442913" cy="442913"/>
          </a:xfrm>
          <a:prstGeom prst="roundRect">
            <a:avLst>
              <a:gd name="adj" fmla="val 20001"/>
            </a:avLst>
          </a:prstGeom>
          <a:solidFill>
            <a:srgbClr val="110080"/>
          </a:solidFill>
          <a:ln w="12263">
            <a:solidFill>
              <a:srgbClr val="140099"/>
            </a:solidFill>
            <a:prstDash val="solid"/>
          </a:ln>
        </p:spPr>
        <p:txBody>
          <a:bodyPr/>
          <a:lstStyle/>
          <a:p>
            <a:endParaRPr lang="en-US"/>
          </a:p>
        </p:txBody>
      </p:sp>
      <p:sp>
        <p:nvSpPr>
          <p:cNvPr id="14" name="Text 11"/>
          <p:cNvSpPr/>
          <p:nvPr/>
        </p:nvSpPr>
        <p:spPr>
          <a:xfrm>
            <a:off x="1019175" y="3705820"/>
            <a:ext cx="174069" cy="369094"/>
          </a:xfrm>
          <a:prstGeom prst="rect">
            <a:avLst/>
          </a:prstGeom>
          <a:noFill/>
          <a:ln/>
        </p:spPr>
        <p:txBody>
          <a:bodyPr wrap="none" rtlCol="0" anchor="t"/>
          <a:lstStyle/>
          <a:p>
            <a:pPr marL="0" indent="0" algn="ctr">
              <a:lnSpc>
                <a:spcPts val="2906"/>
              </a:lnSpc>
              <a:buNone/>
            </a:pPr>
            <a:r>
              <a:rPr lang="en-US" sz="2325" b="1" kern="0" spc="-70" dirty="0">
                <a:solidFill>
                  <a:srgbClr val="E5E0DF"/>
                </a:solidFill>
                <a:latin typeface="Inter" pitchFamily="34" charset="0"/>
                <a:ea typeface="Inter" pitchFamily="34" charset="-122"/>
                <a:cs typeface="Inter" pitchFamily="34" charset="-120"/>
              </a:rPr>
              <a:t>2</a:t>
            </a:r>
            <a:endParaRPr lang="en-US" sz="2325" dirty="0"/>
          </a:p>
        </p:txBody>
      </p:sp>
      <p:sp>
        <p:nvSpPr>
          <p:cNvPr id="15" name="Text 12"/>
          <p:cNvSpPr/>
          <p:nvPr/>
        </p:nvSpPr>
        <p:spPr>
          <a:xfrm>
            <a:off x="2188845" y="3711892"/>
            <a:ext cx="1968579" cy="307538"/>
          </a:xfrm>
          <a:prstGeom prst="rect">
            <a:avLst/>
          </a:prstGeom>
          <a:noFill/>
          <a:ln/>
        </p:spPr>
        <p:txBody>
          <a:bodyPr wrap="none" rtlCol="0" anchor="t"/>
          <a:lstStyle/>
          <a:p>
            <a:pPr marL="0" indent="0" algn="l">
              <a:lnSpc>
                <a:spcPts val="2422"/>
              </a:lnSpc>
              <a:buNone/>
            </a:pPr>
            <a:r>
              <a:rPr lang="en-US" sz="2000" b="1" kern="0" spc="-58" dirty="0">
                <a:solidFill>
                  <a:srgbClr val="E5E0DF"/>
                </a:solidFill>
                <a:latin typeface="Inter" pitchFamily="34" charset="0"/>
                <a:ea typeface="Inter" pitchFamily="34" charset="-122"/>
                <a:cs typeface="Inter" pitchFamily="34" charset="-120"/>
              </a:rPr>
              <a:t>Victim Infection</a:t>
            </a:r>
            <a:endParaRPr lang="en-US" sz="2000" dirty="0"/>
          </a:p>
        </p:txBody>
      </p:sp>
      <p:sp>
        <p:nvSpPr>
          <p:cNvPr id="16" name="Text 13"/>
          <p:cNvSpPr/>
          <p:nvPr/>
        </p:nvSpPr>
        <p:spPr>
          <a:xfrm>
            <a:off x="2188845" y="4216241"/>
            <a:ext cx="7973020" cy="944404"/>
          </a:xfrm>
          <a:prstGeom prst="rect">
            <a:avLst/>
          </a:prstGeom>
          <a:noFill/>
          <a:ln/>
        </p:spPr>
        <p:txBody>
          <a:bodyPr wrap="square" rtlCol="0" anchor="t"/>
          <a:lstStyle/>
          <a:p>
            <a:pPr marL="0" indent="0" algn="just">
              <a:lnSpc>
                <a:spcPts val="2480"/>
              </a:lnSpc>
              <a:buNone/>
            </a:pPr>
            <a:r>
              <a:rPr lang="en-US" kern="0" spc="-31" dirty="0">
                <a:solidFill>
                  <a:srgbClr val="E5E0DF"/>
                </a:solidFill>
                <a:latin typeface="Inter" pitchFamily="34" charset="0"/>
                <a:ea typeface="Inter" pitchFamily="34" charset="-122"/>
                <a:cs typeface="Inter" pitchFamily="34" charset="-120"/>
              </a:rPr>
              <a:t>Once the victim's computer has been compromised, the payload is executed, and the malware begins to run in memory. This allows the attacker to interface with the malware and begin communicating with the victim's computer.</a:t>
            </a:r>
            <a:endParaRPr lang="en-US" dirty="0"/>
          </a:p>
        </p:txBody>
      </p:sp>
      <p:sp>
        <p:nvSpPr>
          <p:cNvPr id="17" name="Shape 14"/>
          <p:cNvSpPr/>
          <p:nvPr/>
        </p:nvSpPr>
        <p:spPr>
          <a:xfrm>
            <a:off x="1327666" y="5909786"/>
            <a:ext cx="689015" cy="39291"/>
          </a:xfrm>
          <a:prstGeom prst="rect">
            <a:avLst/>
          </a:prstGeom>
          <a:solidFill>
            <a:srgbClr val="140099"/>
          </a:solidFill>
          <a:ln/>
        </p:spPr>
        <p:txBody>
          <a:bodyPr/>
          <a:lstStyle/>
          <a:p>
            <a:endParaRPr lang="en-US"/>
          </a:p>
        </p:txBody>
      </p:sp>
      <p:sp>
        <p:nvSpPr>
          <p:cNvPr id="18" name="Shape 15"/>
          <p:cNvSpPr/>
          <p:nvPr/>
        </p:nvSpPr>
        <p:spPr>
          <a:xfrm>
            <a:off x="884753" y="5708094"/>
            <a:ext cx="442913" cy="442913"/>
          </a:xfrm>
          <a:prstGeom prst="roundRect">
            <a:avLst>
              <a:gd name="adj" fmla="val 20001"/>
            </a:avLst>
          </a:prstGeom>
          <a:solidFill>
            <a:srgbClr val="110080"/>
          </a:solidFill>
          <a:ln w="12263">
            <a:solidFill>
              <a:srgbClr val="140099"/>
            </a:solidFill>
            <a:prstDash val="solid"/>
          </a:ln>
        </p:spPr>
        <p:txBody>
          <a:bodyPr/>
          <a:lstStyle/>
          <a:p>
            <a:endParaRPr lang="en-US"/>
          </a:p>
        </p:txBody>
      </p:sp>
      <p:sp>
        <p:nvSpPr>
          <p:cNvPr id="19" name="Text 16"/>
          <p:cNvSpPr/>
          <p:nvPr/>
        </p:nvSpPr>
        <p:spPr>
          <a:xfrm>
            <a:off x="1015365" y="5745004"/>
            <a:ext cx="181689" cy="369094"/>
          </a:xfrm>
          <a:prstGeom prst="rect">
            <a:avLst/>
          </a:prstGeom>
          <a:noFill/>
          <a:ln/>
        </p:spPr>
        <p:txBody>
          <a:bodyPr wrap="none" rtlCol="0" anchor="t"/>
          <a:lstStyle/>
          <a:p>
            <a:pPr marL="0" indent="0" algn="ctr">
              <a:lnSpc>
                <a:spcPts val="2906"/>
              </a:lnSpc>
              <a:buNone/>
            </a:pPr>
            <a:r>
              <a:rPr lang="en-US" sz="2325" b="1" kern="0" spc="-70" dirty="0">
                <a:solidFill>
                  <a:srgbClr val="E5E0DF"/>
                </a:solidFill>
                <a:latin typeface="Inter" pitchFamily="34" charset="0"/>
                <a:ea typeface="Inter" pitchFamily="34" charset="-122"/>
                <a:cs typeface="Inter" pitchFamily="34" charset="-120"/>
              </a:rPr>
              <a:t>3</a:t>
            </a:r>
            <a:endParaRPr lang="en-US" sz="2325" dirty="0"/>
          </a:p>
        </p:txBody>
      </p:sp>
      <p:sp>
        <p:nvSpPr>
          <p:cNvPr id="20" name="Text 17"/>
          <p:cNvSpPr/>
          <p:nvPr/>
        </p:nvSpPr>
        <p:spPr>
          <a:xfrm>
            <a:off x="2188845" y="5751076"/>
            <a:ext cx="1968579" cy="307538"/>
          </a:xfrm>
          <a:prstGeom prst="rect">
            <a:avLst/>
          </a:prstGeom>
          <a:noFill/>
          <a:ln/>
        </p:spPr>
        <p:txBody>
          <a:bodyPr wrap="none" rtlCol="0" anchor="t"/>
          <a:lstStyle/>
          <a:p>
            <a:pPr marL="0" indent="0" algn="l">
              <a:lnSpc>
                <a:spcPts val="2422"/>
              </a:lnSpc>
              <a:buNone/>
            </a:pPr>
            <a:r>
              <a:rPr lang="en-US" sz="2000" b="1" kern="0" spc="-58" dirty="0">
                <a:solidFill>
                  <a:srgbClr val="E5E0DF"/>
                </a:solidFill>
                <a:latin typeface="Inter" pitchFamily="34" charset="0"/>
                <a:ea typeface="Inter" pitchFamily="34" charset="-122"/>
                <a:cs typeface="Inter" pitchFamily="34" charset="-120"/>
              </a:rPr>
              <a:t>Remote Control</a:t>
            </a:r>
            <a:endParaRPr lang="en-US" sz="2000" dirty="0"/>
          </a:p>
        </p:txBody>
      </p:sp>
      <p:sp>
        <p:nvSpPr>
          <p:cNvPr id="21" name="Text 18"/>
          <p:cNvSpPr/>
          <p:nvPr/>
        </p:nvSpPr>
        <p:spPr>
          <a:xfrm>
            <a:off x="2188845" y="6255425"/>
            <a:ext cx="7973020" cy="944404"/>
          </a:xfrm>
          <a:prstGeom prst="rect">
            <a:avLst/>
          </a:prstGeom>
          <a:noFill/>
          <a:ln/>
        </p:spPr>
        <p:txBody>
          <a:bodyPr wrap="square" rtlCol="0" anchor="t"/>
          <a:lstStyle/>
          <a:p>
            <a:pPr marL="0" indent="0" algn="just">
              <a:lnSpc>
                <a:spcPts val="2480"/>
              </a:lnSpc>
              <a:buNone/>
            </a:pPr>
            <a:r>
              <a:rPr lang="en-US" kern="0" spc="-31" dirty="0">
                <a:solidFill>
                  <a:srgbClr val="E5E0DF"/>
                </a:solidFill>
                <a:latin typeface="Inter" pitchFamily="34" charset="0"/>
                <a:ea typeface="Inter" pitchFamily="34" charset="-122"/>
                <a:cs typeface="Inter" pitchFamily="34" charset="-120"/>
              </a:rPr>
              <a:t>With the malware running, the attacker has full control over the victim's computer. They can execute commands, gather sensitive information, and even use the compromised computer as a launchpad for further attacks.</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1000"/>
                                        <p:tgtEl>
                                          <p:spTgt spid="8"/>
                                        </p:tgtEl>
                                      </p:cBhvr>
                                    </p:animEffect>
                                    <p:anim calcmode="lin" valueType="num">
                                      <p:cBhvr>
                                        <p:cTn id="13" dur="1000" fill="hold"/>
                                        <p:tgtEl>
                                          <p:spTgt spid="8"/>
                                        </p:tgtEl>
                                        <p:attrNameLst>
                                          <p:attrName>ppt_x</p:attrName>
                                        </p:attrNameLst>
                                      </p:cBhvr>
                                      <p:tavLst>
                                        <p:tav tm="0">
                                          <p:val>
                                            <p:strVal val="#ppt_x"/>
                                          </p:val>
                                        </p:tav>
                                        <p:tav tm="100000">
                                          <p:val>
                                            <p:strVal val="#ppt_x"/>
                                          </p:val>
                                        </p:tav>
                                      </p:tavLst>
                                    </p:anim>
                                    <p:anim calcmode="lin" valueType="num">
                                      <p:cBhvr>
                                        <p:cTn id="14" dur="1000" fill="hold"/>
                                        <p:tgtEl>
                                          <p:spTgt spid="8"/>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1000"/>
                                        <p:tgtEl>
                                          <p:spTgt spid="9"/>
                                        </p:tgtEl>
                                      </p:cBhvr>
                                    </p:animEffect>
                                    <p:anim calcmode="lin" valueType="num">
                                      <p:cBhvr>
                                        <p:cTn id="18" dur="1000" fill="hold"/>
                                        <p:tgtEl>
                                          <p:spTgt spid="9"/>
                                        </p:tgtEl>
                                        <p:attrNameLst>
                                          <p:attrName>ppt_x</p:attrName>
                                        </p:attrNameLst>
                                      </p:cBhvr>
                                      <p:tavLst>
                                        <p:tav tm="0">
                                          <p:val>
                                            <p:strVal val="#ppt_x"/>
                                          </p:val>
                                        </p:tav>
                                        <p:tav tm="100000">
                                          <p:val>
                                            <p:strVal val="#ppt_x"/>
                                          </p:val>
                                        </p:tav>
                                      </p:tavLst>
                                    </p:anim>
                                    <p:anim calcmode="lin" valueType="num">
                                      <p:cBhvr>
                                        <p:cTn id="19" dur="1000" fill="hold"/>
                                        <p:tgtEl>
                                          <p:spTgt spid="9"/>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1000"/>
                                        <p:tgtEl>
                                          <p:spTgt spid="7"/>
                                        </p:tgtEl>
                                      </p:cBhvr>
                                    </p:animEffect>
                                    <p:anim calcmode="lin" valueType="num">
                                      <p:cBhvr>
                                        <p:cTn id="23" dur="1000" fill="hold"/>
                                        <p:tgtEl>
                                          <p:spTgt spid="7"/>
                                        </p:tgtEl>
                                        <p:attrNameLst>
                                          <p:attrName>ppt_x</p:attrName>
                                        </p:attrNameLst>
                                      </p:cBhvr>
                                      <p:tavLst>
                                        <p:tav tm="0">
                                          <p:val>
                                            <p:strVal val="#ppt_x"/>
                                          </p:val>
                                        </p:tav>
                                        <p:tav tm="100000">
                                          <p:val>
                                            <p:strVal val="#ppt_x"/>
                                          </p:val>
                                        </p:tav>
                                      </p:tavLst>
                                    </p:anim>
                                    <p:anim calcmode="lin" valueType="num">
                                      <p:cBhvr>
                                        <p:cTn id="24" dur="1000" fill="hold"/>
                                        <p:tgtEl>
                                          <p:spTgt spid="7"/>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fade">
                                      <p:cBhvr>
                                        <p:cTn id="27" dur="1000"/>
                                        <p:tgtEl>
                                          <p:spTgt spid="10"/>
                                        </p:tgtEl>
                                      </p:cBhvr>
                                    </p:animEffect>
                                    <p:anim calcmode="lin" valueType="num">
                                      <p:cBhvr>
                                        <p:cTn id="28" dur="1000" fill="hold"/>
                                        <p:tgtEl>
                                          <p:spTgt spid="10"/>
                                        </p:tgtEl>
                                        <p:attrNameLst>
                                          <p:attrName>ppt_x</p:attrName>
                                        </p:attrNameLst>
                                      </p:cBhvr>
                                      <p:tavLst>
                                        <p:tav tm="0">
                                          <p:val>
                                            <p:strVal val="#ppt_x"/>
                                          </p:val>
                                        </p:tav>
                                        <p:tav tm="100000">
                                          <p:val>
                                            <p:strVal val="#ppt_x"/>
                                          </p:val>
                                        </p:tav>
                                      </p:tavLst>
                                    </p:anim>
                                    <p:anim calcmode="lin" valueType="num">
                                      <p:cBhvr>
                                        <p:cTn id="29" dur="1000" fill="hold"/>
                                        <p:tgtEl>
                                          <p:spTgt spid="10"/>
                                        </p:tgtEl>
                                        <p:attrNameLst>
                                          <p:attrName>ppt_y</p:attrName>
                                        </p:attrNameLst>
                                      </p:cBhvr>
                                      <p:tavLst>
                                        <p:tav tm="0">
                                          <p:val>
                                            <p:strVal val="#ppt_y+.1"/>
                                          </p:val>
                                        </p:tav>
                                        <p:tav tm="100000">
                                          <p:val>
                                            <p:strVal val="#ppt_y"/>
                                          </p:val>
                                        </p:tav>
                                      </p:tavLst>
                                    </p:anim>
                                  </p:childTnLst>
                                </p:cTn>
                              </p:par>
                              <p:par>
                                <p:cTn id="30" presetID="42" presetClass="entr" presetSubtype="0" fill="hold" grpId="0" nodeType="with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1000"/>
                                        <p:tgtEl>
                                          <p:spTgt spid="11"/>
                                        </p:tgtEl>
                                      </p:cBhvr>
                                    </p:animEffect>
                                    <p:anim calcmode="lin" valueType="num">
                                      <p:cBhvr>
                                        <p:cTn id="33" dur="1000" fill="hold"/>
                                        <p:tgtEl>
                                          <p:spTgt spid="11"/>
                                        </p:tgtEl>
                                        <p:attrNameLst>
                                          <p:attrName>ppt_x</p:attrName>
                                        </p:attrNameLst>
                                      </p:cBhvr>
                                      <p:tavLst>
                                        <p:tav tm="0">
                                          <p:val>
                                            <p:strVal val="#ppt_x"/>
                                          </p:val>
                                        </p:tav>
                                        <p:tav tm="100000">
                                          <p:val>
                                            <p:strVal val="#ppt_x"/>
                                          </p:val>
                                        </p:tav>
                                      </p:tavLst>
                                    </p:anim>
                                    <p:anim calcmode="lin" valueType="num">
                                      <p:cBhvr>
                                        <p:cTn id="34"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42" presetClass="entr" presetSubtype="0" fill="hold" grpId="0" nodeType="clickEffect">
                                  <p:stCondLst>
                                    <p:cond delay="0"/>
                                  </p:stCondLst>
                                  <p:childTnLst>
                                    <p:set>
                                      <p:cBhvr>
                                        <p:cTn id="38" dur="1" fill="hold">
                                          <p:stCondLst>
                                            <p:cond delay="0"/>
                                          </p:stCondLst>
                                        </p:cTn>
                                        <p:tgtEl>
                                          <p:spTgt spid="13"/>
                                        </p:tgtEl>
                                        <p:attrNameLst>
                                          <p:attrName>style.visibility</p:attrName>
                                        </p:attrNameLst>
                                      </p:cBhvr>
                                      <p:to>
                                        <p:strVal val="visible"/>
                                      </p:to>
                                    </p:set>
                                    <p:animEffect transition="in" filter="fade">
                                      <p:cBhvr>
                                        <p:cTn id="39" dur="1000"/>
                                        <p:tgtEl>
                                          <p:spTgt spid="13"/>
                                        </p:tgtEl>
                                      </p:cBhvr>
                                    </p:animEffect>
                                    <p:anim calcmode="lin" valueType="num">
                                      <p:cBhvr>
                                        <p:cTn id="40" dur="1000" fill="hold"/>
                                        <p:tgtEl>
                                          <p:spTgt spid="13"/>
                                        </p:tgtEl>
                                        <p:attrNameLst>
                                          <p:attrName>ppt_x</p:attrName>
                                        </p:attrNameLst>
                                      </p:cBhvr>
                                      <p:tavLst>
                                        <p:tav tm="0">
                                          <p:val>
                                            <p:strVal val="#ppt_x"/>
                                          </p:val>
                                        </p:tav>
                                        <p:tav tm="100000">
                                          <p:val>
                                            <p:strVal val="#ppt_x"/>
                                          </p:val>
                                        </p:tav>
                                      </p:tavLst>
                                    </p:anim>
                                    <p:anim calcmode="lin" valueType="num">
                                      <p:cBhvr>
                                        <p:cTn id="41" dur="1000" fill="hold"/>
                                        <p:tgtEl>
                                          <p:spTgt spid="13"/>
                                        </p:tgtEl>
                                        <p:attrNameLst>
                                          <p:attrName>ppt_y</p:attrName>
                                        </p:attrNameLst>
                                      </p:cBhvr>
                                      <p:tavLst>
                                        <p:tav tm="0">
                                          <p:val>
                                            <p:strVal val="#ppt_y+.1"/>
                                          </p:val>
                                        </p:tav>
                                        <p:tav tm="100000">
                                          <p:val>
                                            <p:strVal val="#ppt_y"/>
                                          </p:val>
                                        </p:tav>
                                      </p:tavLst>
                                    </p:anim>
                                  </p:childTnLst>
                                </p:cTn>
                              </p:par>
                              <p:par>
                                <p:cTn id="42" presetID="42" presetClass="entr" presetSubtype="0" fill="hold" grpId="0" nodeType="withEffect">
                                  <p:stCondLst>
                                    <p:cond delay="0"/>
                                  </p:stCondLst>
                                  <p:childTnLst>
                                    <p:set>
                                      <p:cBhvr>
                                        <p:cTn id="43" dur="1" fill="hold">
                                          <p:stCondLst>
                                            <p:cond delay="0"/>
                                          </p:stCondLst>
                                        </p:cTn>
                                        <p:tgtEl>
                                          <p:spTgt spid="14"/>
                                        </p:tgtEl>
                                        <p:attrNameLst>
                                          <p:attrName>style.visibility</p:attrName>
                                        </p:attrNameLst>
                                      </p:cBhvr>
                                      <p:to>
                                        <p:strVal val="visible"/>
                                      </p:to>
                                    </p:set>
                                    <p:animEffect transition="in" filter="fade">
                                      <p:cBhvr>
                                        <p:cTn id="44" dur="1000"/>
                                        <p:tgtEl>
                                          <p:spTgt spid="14"/>
                                        </p:tgtEl>
                                      </p:cBhvr>
                                    </p:animEffect>
                                    <p:anim calcmode="lin" valueType="num">
                                      <p:cBhvr>
                                        <p:cTn id="45" dur="1000" fill="hold"/>
                                        <p:tgtEl>
                                          <p:spTgt spid="14"/>
                                        </p:tgtEl>
                                        <p:attrNameLst>
                                          <p:attrName>ppt_x</p:attrName>
                                        </p:attrNameLst>
                                      </p:cBhvr>
                                      <p:tavLst>
                                        <p:tav tm="0">
                                          <p:val>
                                            <p:strVal val="#ppt_x"/>
                                          </p:val>
                                        </p:tav>
                                        <p:tav tm="100000">
                                          <p:val>
                                            <p:strVal val="#ppt_x"/>
                                          </p:val>
                                        </p:tav>
                                      </p:tavLst>
                                    </p:anim>
                                    <p:anim calcmode="lin" valueType="num">
                                      <p:cBhvr>
                                        <p:cTn id="46" dur="1000" fill="hold"/>
                                        <p:tgtEl>
                                          <p:spTgt spid="14"/>
                                        </p:tgtEl>
                                        <p:attrNameLst>
                                          <p:attrName>ppt_y</p:attrName>
                                        </p:attrNameLst>
                                      </p:cBhvr>
                                      <p:tavLst>
                                        <p:tav tm="0">
                                          <p:val>
                                            <p:strVal val="#ppt_y+.1"/>
                                          </p:val>
                                        </p:tav>
                                        <p:tav tm="100000">
                                          <p:val>
                                            <p:strVal val="#ppt_y"/>
                                          </p:val>
                                        </p:tav>
                                      </p:tavLst>
                                    </p:anim>
                                  </p:childTnLst>
                                </p:cTn>
                              </p:par>
                              <p:par>
                                <p:cTn id="47" presetID="42" presetClass="entr" presetSubtype="0" fill="hold" grpId="0" nodeType="withEffect">
                                  <p:stCondLst>
                                    <p:cond delay="0"/>
                                  </p:stCondLst>
                                  <p:childTnLst>
                                    <p:set>
                                      <p:cBhvr>
                                        <p:cTn id="48" dur="1" fill="hold">
                                          <p:stCondLst>
                                            <p:cond delay="0"/>
                                          </p:stCondLst>
                                        </p:cTn>
                                        <p:tgtEl>
                                          <p:spTgt spid="12"/>
                                        </p:tgtEl>
                                        <p:attrNameLst>
                                          <p:attrName>style.visibility</p:attrName>
                                        </p:attrNameLst>
                                      </p:cBhvr>
                                      <p:to>
                                        <p:strVal val="visible"/>
                                      </p:to>
                                    </p:set>
                                    <p:animEffect transition="in" filter="fade">
                                      <p:cBhvr>
                                        <p:cTn id="49" dur="1000"/>
                                        <p:tgtEl>
                                          <p:spTgt spid="12"/>
                                        </p:tgtEl>
                                      </p:cBhvr>
                                    </p:animEffect>
                                    <p:anim calcmode="lin" valueType="num">
                                      <p:cBhvr>
                                        <p:cTn id="50" dur="1000" fill="hold"/>
                                        <p:tgtEl>
                                          <p:spTgt spid="12"/>
                                        </p:tgtEl>
                                        <p:attrNameLst>
                                          <p:attrName>ppt_x</p:attrName>
                                        </p:attrNameLst>
                                      </p:cBhvr>
                                      <p:tavLst>
                                        <p:tav tm="0">
                                          <p:val>
                                            <p:strVal val="#ppt_x"/>
                                          </p:val>
                                        </p:tav>
                                        <p:tav tm="100000">
                                          <p:val>
                                            <p:strVal val="#ppt_x"/>
                                          </p:val>
                                        </p:tav>
                                      </p:tavLst>
                                    </p:anim>
                                    <p:anim calcmode="lin" valueType="num">
                                      <p:cBhvr>
                                        <p:cTn id="51" dur="1000" fill="hold"/>
                                        <p:tgtEl>
                                          <p:spTgt spid="12"/>
                                        </p:tgtEl>
                                        <p:attrNameLst>
                                          <p:attrName>ppt_y</p:attrName>
                                        </p:attrNameLst>
                                      </p:cBhvr>
                                      <p:tavLst>
                                        <p:tav tm="0">
                                          <p:val>
                                            <p:strVal val="#ppt_y+.1"/>
                                          </p:val>
                                        </p:tav>
                                        <p:tav tm="100000">
                                          <p:val>
                                            <p:strVal val="#ppt_y"/>
                                          </p:val>
                                        </p:tav>
                                      </p:tavLst>
                                    </p:anim>
                                  </p:childTnLst>
                                </p:cTn>
                              </p:par>
                              <p:par>
                                <p:cTn id="52" presetID="42" presetClass="entr" presetSubtype="0" fill="hold" grpId="0" nodeType="withEffect">
                                  <p:stCondLst>
                                    <p:cond delay="0"/>
                                  </p:stCondLst>
                                  <p:childTnLst>
                                    <p:set>
                                      <p:cBhvr>
                                        <p:cTn id="53" dur="1" fill="hold">
                                          <p:stCondLst>
                                            <p:cond delay="0"/>
                                          </p:stCondLst>
                                        </p:cTn>
                                        <p:tgtEl>
                                          <p:spTgt spid="15"/>
                                        </p:tgtEl>
                                        <p:attrNameLst>
                                          <p:attrName>style.visibility</p:attrName>
                                        </p:attrNameLst>
                                      </p:cBhvr>
                                      <p:to>
                                        <p:strVal val="visible"/>
                                      </p:to>
                                    </p:set>
                                    <p:animEffect transition="in" filter="fade">
                                      <p:cBhvr>
                                        <p:cTn id="54" dur="1000"/>
                                        <p:tgtEl>
                                          <p:spTgt spid="15"/>
                                        </p:tgtEl>
                                      </p:cBhvr>
                                    </p:animEffect>
                                    <p:anim calcmode="lin" valueType="num">
                                      <p:cBhvr>
                                        <p:cTn id="55" dur="1000" fill="hold"/>
                                        <p:tgtEl>
                                          <p:spTgt spid="15"/>
                                        </p:tgtEl>
                                        <p:attrNameLst>
                                          <p:attrName>ppt_x</p:attrName>
                                        </p:attrNameLst>
                                      </p:cBhvr>
                                      <p:tavLst>
                                        <p:tav tm="0">
                                          <p:val>
                                            <p:strVal val="#ppt_x"/>
                                          </p:val>
                                        </p:tav>
                                        <p:tav tm="100000">
                                          <p:val>
                                            <p:strVal val="#ppt_x"/>
                                          </p:val>
                                        </p:tav>
                                      </p:tavLst>
                                    </p:anim>
                                    <p:anim calcmode="lin" valueType="num">
                                      <p:cBhvr>
                                        <p:cTn id="56" dur="1000" fill="hold"/>
                                        <p:tgtEl>
                                          <p:spTgt spid="15"/>
                                        </p:tgtEl>
                                        <p:attrNameLst>
                                          <p:attrName>ppt_y</p:attrName>
                                        </p:attrNameLst>
                                      </p:cBhvr>
                                      <p:tavLst>
                                        <p:tav tm="0">
                                          <p:val>
                                            <p:strVal val="#ppt_y+.1"/>
                                          </p:val>
                                        </p:tav>
                                        <p:tav tm="100000">
                                          <p:val>
                                            <p:strVal val="#ppt_y"/>
                                          </p:val>
                                        </p:tav>
                                      </p:tavLst>
                                    </p:anim>
                                  </p:childTnLst>
                                </p:cTn>
                              </p:par>
                              <p:par>
                                <p:cTn id="57" presetID="42" presetClass="entr" presetSubtype="0" fill="hold" grpId="0" nodeType="withEffect">
                                  <p:stCondLst>
                                    <p:cond delay="0"/>
                                  </p:stCondLst>
                                  <p:childTnLst>
                                    <p:set>
                                      <p:cBhvr>
                                        <p:cTn id="58" dur="1" fill="hold">
                                          <p:stCondLst>
                                            <p:cond delay="0"/>
                                          </p:stCondLst>
                                        </p:cTn>
                                        <p:tgtEl>
                                          <p:spTgt spid="16"/>
                                        </p:tgtEl>
                                        <p:attrNameLst>
                                          <p:attrName>style.visibility</p:attrName>
                                        </p:attrNameLst>
                                      </p:cBhvr>
                                      <p:to>
                                        <p:strVal val="visible"/>
                                      </p:to>
                                    </p:set>
                                    <p:animEffect transition="in" filter="fade">
                                      <p:cBhvr>
                                        <p:cTn id="59" dur="1000"/>
                                        <p:tgtEl>
                                          <p:spTgt spid="16"/>
                                        </p:tgtEl>
                                      </p:cBhvr>
                                    </p:animEffect>
                                    <p:anim calcmode="lin" valueType="num">
                                      <p:cBhvr>
                                        <p:cTn id="60" dur="1000" fill="hold"/>
                                        <p:tgtEl>
                                          <p:spTgt spid="16"/>
                                        </p:tgtEl>
                                        <p:attrNameLst>
                                          <p:attrName>ppt_x</p:attrName>
                                        </p:attrNameLst>
                                      </p:cBhvr>
                                      <p:tavLst>
                                        <p:tav tm="0">
                                          <p:val>
                                            <p:strVal val="#ppt_x"/>
                                          </p:val>
                                        </p:tav>
                                        <p:tav tm="100000">
                                          <p:val>
                                            <p:strVal val="#ppt_x"/>
                                          </p:val>
                                        </p:tav>
                                      </p:tavLst>
                                    </p:anim>
                                    <p:anim calcmode="lin" valueType="num">
                                      <p:cBhvr>
                                        <p:cTn id="61"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par>
                    <p:cTn id="62" fill="hold">
                      <p:stCondLst>
                        <p:cond delay="indefinite"/>
                      </p:stCondLst>
                      <p:childTnLst>
                        <p:par>
                          <p:cTn id="63" fill="hold">
                            <p:stCondLst>
                              <p:cond delay="0"/>
                            </p:stCondLst>
                            <p:childTnLst>
                              <p:par>
                                <p:cTn id="64" presetID="42" presetClass="entr" presetSubtype="0" fill="hold" grpId="0" nodeType="clickEffect">
                                  <p:stCondLst>
                                    <p:cond delay="0"/>
                                  </p:stCondLst>
                                  <p:childTnLst>
                                    <p:set>
                                      <p:cBhvr>
                                        <p:cTn id="65" dur="1" fill="hold">
                                          <p:stCondLst>
                                            <p:cond delay="0"/>
                                          </p:stCondLst>
                                        </p:cTn>
                                        <p:tgtEl>
                                          <p:spTgt spid="19"/>
                                        </p:tgtEl>
                                        <p:attrNameLst>
                                          <p:attrName>style.visibility</p:attrName>
                                        </p:attrNameLst>
                                      </p:cBhvr>
                                      <p:to>
                                        <p:strVal val="visible"/>
                                      </p:to>
                                    </p:set>
                                    <p:animEffect transition="in" filter="fade">
                                      <p:cBhvr>
                                        <p:cTn id="66" dur="1000"/>
                                        <p:tgtEl>
                                          <p:spTgt spid="19"/>
                                        </p:tgtEl>
                                      </p:cBhvr>
                                    </p:animEffect>
                                    <p:anim calcmode="lin" valueType="num">
                                      <p:cBhvr>
                                        <p:cTn id="67" dur="1000" fill="hold"/>
                                        <p:tgtEl>
                                          <p:spTgt spid="19"/>
                                        </p:tgtEl>
                                        <p:attrNameLst>
                                          <p:attrName>ppt_x</p:attrName>
                                        </p:attrNameLst>
                                      </p:cBhvr>
                                      <p:tavLst>
                                        <p:tav tm="0">
                                          <p:val>
                                            <p:strVal val="#ppt_x"/>
                                          </p:val>
                                        </p:tav>
                                        <p:tav tm="100000">
                                          <p:val>
                                            <p:strVal val="#ppt_x"/>
                                          </p:val>
                                        </p:tav>
                                      </p:tavLst>
                                    </p:anim>
                                    <p:anim calcmode="lin" valueType="num">
                                      <p:cBhvr>
                                        <p:cTn id="68" dur="1000" fill="hold"/>
                                        <p:tgtEl>
                                          <p:spTgt spid="19"/>
                                        </p:tgtEl>
                                        <p:attrNameLst>
                                          <p:attrName>ppt_y</p:attrName>
                                        </p:attrNameLst>
                                      </p:cBhvr>
                                      <p:tavLst>
                                        <p:tav tm="0">
                                          <p:val>
                                            <p:strVal val="#ppt_y+.1"/>
                                          </p:val>
                                        </p:tav>
                                        <p:tav tm="100000">
                                          <p:val>
                                            <p:strVal val="#ppt_y"/>
                                          </p:val>
                                        </p:tav>
                                      </p:tavLst>
                                    </p:anim>
                                  </p:childTnLst>
                                </p:cTn>
                              </p:par>
                              <p:par>
                                <p:cTn id="69" presetID="42" presetClass="entr" presetSubtype="0" fill="hold" grpId="0" nodeType="withEffect">
                                  <p:stCondLst>
                                    <p:cond delay="0"/>
                                  </p:stCondLst>
                                  <p:childTnLst>
                                    <p:set>
                                      <p:cBhvr>
                                        <p:cTn id="70" dur="1" fill="hold">
                                          <p:stCondLst>
                                            <p:cond delay="0"/>
                                          </p:stCondLst>
                                        </p:cTn>
                                        <p:tgtEl>
                                          <p:spTgt spid="18"/>
                                        </p:tgtEl>
                                        <p:attrNameLst>
                                          <p:attrName>style.visibility</p:attrName>
                                        </p:attrNameLst>
                                      </p:cBhvr>
                                      <p:to>
                                        <p:strVal val="visible"/>
                                      </p:to>
                                    </p:set>
                                    <p:animEffect transition="in" filter="fade">
                                      <p:cBhvr>
                                        <p:cTn id="71" dur="1000"/>
                                        <p:tgtEl>
                                          <p:spTgt spid="18"/>
                                        </p:tgtEl>
                                      </p:cBhvr>
                                    </p:animEffect>
                                    <p:anim calcmode="lin" valueType="num">
                                      <p:cBhvr>
                                        <p:cTn id="72" dur="1000" fill="hold"/>
                                        <p:tgtEl>
                                          <p:spTgt spid="18"/>
                                        </p:tgtEl>
                                        <p:attrNameLst>
                                          <p:attrName>ppt_x</p:attrName>
                                        </p:attrNameLst>
                                      </p:cBhvr>
                                      <p:tavLst>
                                        <p:tav tm="0">
                                          <p:val>
                                            <p:strVal val="#ppt_x"/>
                                          </p:val>
                                        </p:tav>
                                        <p:tav tm="100000">
                                          <p:val>
                                            <p:strVal val="#ppt_x"/>
                                          </p:val>
                                        </p:tav>
                                      </p:tavLst>
                                    </p:anim>
                                    <p:anim calcmode="lin" valueType="num">
                                      <p:cBhvr>
                                        <p:cTn id="73" dur="1000" fill="hold"/>
                                        <p:tgtEl>
                                          <p:spTgt spid="18"/>
                                        </p:tgtEl>
                                        <p:attrNameLst>
                                          <p:attrName>ppt_y</p:attrName>
                                        </p:attrNameLst>
                                      </p:cBhvr>
                                      <p:tavLst>
                                        <p:tav tm="0">
                                          <p:val>
                                            <p:strVal val="#ppt_y+.1"/>
                                          </p:val>
                                        </p:tav>
                                        <p:tav tm="100000">
                                          <p:val>
                                            <p:strVal val="#ppt_y"/>
                                          </p:val>
                                        </p:tav>
                                      </p:tavLst>
                                    </p:anim>
                                  </p:childTnLst>
                                </p:cTn>
                              </p:par>
                              <p:par>
                                <p:cTn id="74" presetID="42" presetClass="entr" presetSubtype="0" fill="hold" grpId="0" nodeType="withEffect">
                                  <p:stCondLst>
                                    <p:cond delay="0"/>
                                  </p:stCondLst>
                                  <p:childTnLst>
                                    <p:set>
                                      <p:cBhvr>
                                        <p:cTn id="75" dur="1" fill="hold">
                                          <p:stCondLst>
                                            <p:cond delay="0"/>
                                          </p:stCondLst>
                                        </p:cTn>
                                        <p:tgtEl>
                                          <p:spTgt spid="17"/>
                                        </p:tgtEl>
                                        <p:attrNameLst>
                                          <p:attrName>style.visibility</p:attrName>
                                        </p:attrNameLst>
                                      </p:cBhvr>
                                      <p:to>
                                        <p:strVal val="visible"/>
                                      </p:to>
                                    </p:set>
                                    <p:animEffect transition="in" filter="fade">
                                      <p:cBhvr>
                                        <p:cTn id="76" dur="1000"/>
                                        <p:tgtEl>
                                          <p:spTgt spid="17"/>
                                        </p:tgtEl>
                                      </p:cBhvr>
                                    </p:animEffect>
                                    <p:anim calcmode="lin" valueType="num">
                                      <p:cBhvr>
                                        <p:cTn id="77" dur="1000" fill="hold"/>
                                        <p:tgtEl>
                                          <p:spTgt spid="17"/>
                                        </p:tgtEl>
                                        <p:attrNameLst>
                                          <p:attrName>ppt_x</p:attrName>
                                        </p:attrNameLst>
                                      </p:cBhvr>
                                      <p:tavLst>
                                        <p:tav tm="0">
                                          <p:val>
                                            <p:strVal val="#ppt_x"/>
                                          </p:val>
                                        </p:tav>
                                        <p:tav tm="100000">
                                          <p:val>
                                            <p:strVal val="#ppt_x"/>
                                          </p:val>
                                        </p:tav>
                                      </p:tavLst>
                                    </p:anim>
                                    <p:anim calcmode="lin" valueType="num">
                                      <p:cBhvr>
                                        <p:cTn id="78" dur="1000" fill="hold"/>
                                        <p:tgtEl>
                                          <p:spTgt spid="17"/>
                                        </p:tgtEl>
                                        <p:attrNameLst>
                                          <p:attrName>ppt_y</p:attrName>
                                        </p:attrNameLst>
                                      </p:cBhvr>
                                      <p:tavLst>
                                        <p:tav tm="0">
                                          <p:val>
                                            <p:strVal val="#ppt_y+.1"/>
                                          </p:val>
                                        </p:tav>
                                        <p:tav tm="100000">
                                          <p:val>
                                            <p:strVal val="#ppt_y"/>
                                          </p:val>
                                        </p:tav>
                                      </p:tavLst>
                                    </p:anim>
                                  </p:childTnLst>
                                </p:cTn>
                              </p:par>
                              <p:par>
                                <p:cTn id="79" presetID="42" presetClass="entr" presetSubtype="0" fill="hold" grpId="0" nodeType="withEffect">
                                  <p:stCondLst>
                                    <p:cond delay="0"/>
                                  </p:stCondLst>
                                  <p:childTnLst>
                                    <p:set>
                                      <p:cBhvr>
                                        <p:cTn id="80" dur="1" fill="hold">
                                          <p:stCondLst>
                                            <p:cond delay="0"/>
                                          </p:stCondLst>
                                        </p:cTn>
                                        <p:tgtEl>
                                          <p:spTgt spid="20"/>
                                        </p:tgtEl>
                                        <p:attrNameLst>
                                          <p:attrName>style.visibility</p:attrName>
                                        </p:attrNameLst>
                                      </p:cBhvr>
                                      <p:to>
                                        <p:strVal val="visible"/>
                                      </p:to>
                                    </p:set>
                                    <p:animEffect transition="in" filter="fade">
                                      <p:cBhvr>
                                        <p:cTn id="81" dur="1000"/>
                                        <p:tgtEl>
                                          <p:spTgt spid="20"/>
                                        </p:tgtEl>
                                      </p:cBhvr>
                                    </p:animEffect>
                                    <p:anim calcmode="lin" valueType="num">
                                      <p:cBhvr>
                                        <p:cTn id="82" dur="1000" fill="hold"/>
                                        <p:tgtEl>
                                          <p:spTgt spid="20"/>
                                        </p:tgtEl>
                                        <p:attrNameLst>
                                          <p:attrName>ppt_x</p:attrName>
                                        </p:attrNameLst>
                                      </p:cBhvr>
                                      <p:tavLst>
                                        <p:tav tm="0">
                                          <p:val>
                                            <p:strVal val="#ppt_x"/>
                                          </p:val>
                                        </p:tav>
                                        <p:tav tm="100000">
                                          <p:val>
                                            <p:strVal val="#ppt_x"/>
                                          </p:val>
                                        </p:tav>
                                      </p:tavLst>
                                    </p:anim>
                                    <p:anim calcmode="lin" valueType="num">
                                      <p:cBhvr>
                                        <p:cTn id="83" dur="1000" fill="hold"/>
                                        <p:tgtEl>
                                          <p:spTgt spid="20"/>
                                        </p:tgtEl>
                                        <p:attrNameLst>
                                          <p:attrName>ppt_y</p:attrName>
                                        </p:attrNameLst>
                                      </p:cBhvr>
                                      <p:tavLst>
                                        <p:tav tm="0">
                                          <p:val>
                                            <p:strVal val="#ppt_y+.1"/>
                                          </p:val>
                                        </p:tav>
                                        <p:tav tm="100000">
                                          <p:val>
                                            <p:strVal val="#ppt_y"/>
                                          </p:val>
                                        </p:tav>
                                      </p:tavLst>
                                    </p:anim>
                                  </p:childTnLst>
                                </p:cTn>
                              </p:par>
                              <p:par>
                                <p:cTn id="84" presetID="42" presetClass="entr" presetSubtype="0" fill="hold" grpId="0" nodeType="withEffect">
                                  <p:stCondLst>
                                    <p:cond delay="0"/>
                                  </p:stCondLst>
                                  <p:childTnLst>
                                    <p:set>
                                      <p:cBhvr>
                                        <p:cTn id="85" dur="1" fill="hold">
                                          <p:stCondLst>
                                            <p:cond delay="0"/>
                                          </p:stCondLst>
                                        </p:cTn>
                                        <p:tgtEl>
                                          <p:spTgt spid="21"/>
                                        </p:tgtEl>
                                        <p:attrNameLst>
                                          <p:attrName>style.visibility</p:attrName>
                                        </p:attrNameLst>
                                      </p:cBhvr>
                                      <p:to>
                                        <p:strVal val="visible"/>
                                      </p:to>
                                    </p:set>
                                    <p:animEffect transition="in" filter="fade">
                                      <p:cBhvr>
                                        <p:cTn id="86" dur="1000"/>
                                        <p:tgtEl>
                                          <p:spTgt spid="21"/>
                                        </p:tgtEl>
                                      </p:cBhvr>
                                    </p:animEffect>
                                    <p:anim calcmode="lin" valueType="num">
                                      <p:cBhvr>
                                        <p:cTn id="87" dur="1000" fill="hold"/>
                                        <p:tgtEl>
                                          <p:spTgt spid="21"/>
                                        </p:tgtEl>
                                        <p:attrNameLst>
                                          <p:attrName>ppt_x</p:attrName>
                                        </p:attrNameLst>
                                      </p:cBhvr>
                                      <p:tavLst>
                                        <p:tav tm="0">
                                          <p:val>
                                            <p:strVal val="#ppt_x"/>
                                          </p:val>
                                        </p:tav>
                                        <p:tav tm="100000">
                                          <p:val>
                                            <p:strVal val="#ppt_x"/>
                                          </p:val>
                                        </p:tav>
                                      </p:tavLst>
                                    </p:anim>
                                    <p:anim calcmode="lin" valueType="num">
                                      <p:cBhvr>
                                        <p:cTn id="88" dur="1000" fill="hold"/>
                                        <p:tgtEl>
                                          <p:spTgt spid="2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C0C0C"/>
          </a:solidFill>
          <a:ln/>
        </p:spPr>
        <p:txBody>
          <a:bodyPr/>
          <a:lstStyle/>
          <a:p>
            <a:endParaRPr lang="en-US"/>
          </a:p>
        </p:txBody>
      </p:sp>
      <p:sp>
        <p:nvSpPr>
          <p:cNvPr id="3" name="Shape 1"/>
          <p:cNvSpPr/>
          <p:nvPr/>
        </p:nvSpPr>
        <p:spPr>
          <a:xfrm>
            <a:off x="0" y="0"/>
            <a:ext cx="14630400" cy="8229600"/>
          </a:xfrm>
          <a:prstGeom prst="rect">
            <a:avLst/>
          </a:prstGeom>
          <a:solidFill>
            <a:srgbClr val="272525"/>
          </a:solidFill>
          <a:ln w="13811">
            <a:solidFill>
              <a:srgbClr val="565151"/>
            </a:solidFill>
            <a:prstDash val="solid"/>
          </a:ln>
        </p:spPr>
        <p:txBody>
          <a:bodyPr/>
          <a:lstStyle/>
          <a:p>
            <a:endParaRPr lang="en-US"/>
          </a:p>
        </p:txBody>
      </p:sp>
      <p:sp>
        <p:nvSpPr>
          <p:cNvPr id="4" name="Text 2"/>
          <p:cNvSpPr/>
          <p:nvPr/>
        </p:nvSpPr>
        <p:spPr>
          <a:xfrm>
            <a:off x="2037993" y="1429583"/>
            <a:ext cx="8779788" cy="694373"/>
          </a:xfrm>
          <a:prstGeom prst="rect">
            <a:avLst/>
          </a:prstGeom>
          <a:noFill/>
          <a:ln/>
        </p:spPr>
        <p:txBody>
          <a:bodyPr wrap="none" rtlCol="0" anchor="t"/>
          <a:lstStyle/>
          <a:p>
            <a:pPr marL="0" indent="0">
              <a:lnSpc>
                <a:spcPts val="5468"/>
              </a:lnSpc>
              <a:buNone/>
            </a:pPr>
            <a:r>
              <a:rPr lang="en-US" sz="4374" b="1" kern="0" spc="-131" dirty="0">
                <a:solidFill>
                  <a:srgbClr val="FFFFFF"/>
                </a:solidFill>
                <a:latin typeface="Inter" pitchFamily="34" charset="0"/>
                <a:ea typeface="Inter" pitchFamily="34" charset="-122"/>
                <a:cs typeface="Inter" pitchFamily="34" charset="-120"/>
              </a:rPr>
              <a:t>What is Reverse TCP Connection?</a:t>
            </a:r>
            <a:endParaRPr lang="en-US" sz="4374" dirty="0"/>
          </a:p>
        </p:txBody>
      </p:sp>
      <p:sp>
        <p:nvSpPr>
          <p:cNvPr id="5" name="Shape 3"/>
          <p:cNvSpPr/>
          <p:nvPr/>
        </p:nvSpPr>
        <p:spPr>
          <a:xfrm>
            <a:off x="2083775" y="2568297"/>
            <a:ext cx="3370064" cy="4231719"/>
          </a:xfrm>
          <a:prstGeom prst="roundRect">
            <a:avLst>
              <a:gd name="adj" fmla="val 2967"/>
            </a:avLst>
          </a:prstGeom>
          <a:solidFill>
            <a:srgbClr val="110080"/>
          </a:solidFill>
          <a:ln w="13811">
            <a:solidFill>
              <a:srgbClr val="140099"/>
            </a:solidFill>
            <a:prstDash val="solid"/>
          </a:ln>
        </p:spPr>
        <p:txBody>
          <a:bodyPr/>
          <a:lstStyle/>
          <a:p>
            <a:endParaRPr lang="en-US"/>
          </a:p>
        </p:txBody>
      </p:sp>
      <p:sp>
        <p:nvSpPr>
          <p:cNvPr id="6" name="Text 4"/>
          <p:cNvSpPr/>
          <p:nvPr/>
        </p:nvSpPr>
        <p:spPr>
          <a:xfrm>
            <a:off x="2273975" y="2804279"/>
            <a:ext cx="2221944" cy="347186"/>
          </a:xfrm>
          <a:prstGeom prst="rect">
            <a:avLst/>
          </a:prstGeom>
          <a:noFill/>
          <a:ln/>
        </p:spPr>
        <p:txBody>
          <a:bodyPr wrap="none" rtlCol="0" anchor="t"/>
          <a:lstStyle/>
          <a:p>
            <a:pPr marL="0" indent="0">
              <a:lnSpc>
                <a:spcPts val="2734"/>
              </a:lnSpc>
              <a:buNone/>
            </a:pPr>
            <a:r>
              <a:rPr lang="en-US" sz="2187" b="1" kern="0" spc="-66" dirty="0">
                <a:solidFill>
                  <a:srgbClr val="E5E0DF"/>
                </a:solidFill>
                <a:latin typeface="Inter" pitchFamily="34" charset="0"/>
                <a:ea typeface="Inter" pitchFamily="34" charset="-122"/>
                <a:cs typeface="Inter" pitchFamily="34" charset="-120"/>
              </a:rPr>
              <a:t>TCP Connection</a:t>
            </a:r>
            <a:endParaRPr lang="en-US" sz="2187" dirty="0"/>
          </a:p>
        </p:txBody>
      </p:sp>
      <p:sp>
        <p:nvSpPr>
          <p:cNvPr id="7" name="Text 5"/>
          <p:cNvSpPr/>
          <p:nvPr/>
        </p:nvSpPr>
        <p:spPr>
          <a:xfrm>
            <a:off x="2273975" y="3373636"/>
            <a:ext cx="2898100" cy="2843213"/>
          </a:xfrm>
          <a:prstGeom prst="rect">
            <a:avLst/>
          </a:prstGeom>
          <a:noFill/>
          <a:ln/>
        </p:spPr>
        <p:txBody>
          <a:bodyPr wrap="square" rtlCol="0" anchor="t"/>
          <a:lstStyle/>
          <a:p>
            <a:pPr marL="0" indent="0" algn="just">
              <a:lnSpc>
                <a:spcPts val="2799"/>
              </a:lnSpc>
              <a:buNone/>
            </a:pPr>
            <a:r>
              <a:rPr lang="en-US" kern="0" spc="-35" dirty="0">
                <a:solidFill>
                  <a:srgbClr val="E5E0DF"/>
                </a:solidFill>
                <a:latin typeface="Inter" pitchFamily="34" charset="0"/>
                <a:ea typeface="Inter" pitchFamily="34" charset="-122"/>
                <a:cs typeface="Inter" pitchFamily="34" charset="-120"/>
              </a:rPr>
              <a:t>A TCP connection is a standard network connection that uses a client-server model. When a client wants to communicate with a server, it initiates the connection, and the server responds.</a:t>
            </a:r>
            <a:endParaRPr lang="en-US" dirty="0"/>
          </a:p>
        </p:txBody>
      </p:sp>
      <p:sp>
        <p:nvSpPr>
          <p:cNvPr id="8" name="Shape 6"/>
          <p:cNvSpPr/>
          <p:nvPr/>
        </p:nvSpPr>
        <p:spPr>
          <a:xfrm>
            <a:off x="5630228" y="2568297"/>
            <a:ext cx="3370064" cy="4231719"/>
          </a:xfrm>
          <a:prstGeom prst="roundRect">
            <a:avLst>
              <a:gd name="adj" fmla="val 2967"/>
            </a:avLst>
          </a:prstGeom>
          <a:solidFill>
            <a:srgbClr val="110080"/>
          </a:solidFill>
          <a:ln w="13811">
            <a:solidFill>
              <a:srgbClr val="140099"/>
            </a:solidFill>
            <a:prstDash val="solid"/>
          </a:ln>
        </p:spPr>
        <p:txBody>
          <a:bodyPr/>
          <a:lstStyle/>
          <a:p>
            <a:endParaRPr lang="en-US"/>
          </a:p>
        </p:txBody>
      </p:sp>
      <p:sp>
        <p:nvSpPr>
          <p:cNvPr id="9" name="Text 7"/>
          <p:cNvSpPr/>
          <p:nvPr/>
        </p:nvSpPr>
        <p:spPr>
          <a:xfrm>
            <a:off x="5866209" y="2804279"/>
            <a:ext cx="2898100" cy="694373"/>
          </a:xfrm>
          <a:prstGeom prst="rect">
            <a:avLst/>
          </a:prstGeom>
          <a:noFill/>
          <a:ln/>
        </p:spPr>
        <p:txBody>
          <a:bodyPr wrap="square" rtlCol="0" anchor="t"/>
          <a:lstStyle/>
          <a:p>
            <a:pPr marL="0" indent="0">
              <a:lnSpc>
                <a:spcPts val="2734"/>
              </a:lnSpc>
              <a:buNone/>
            </a:pPr>
            <a:r>
              <a:rPr lang="en-US" sz="2187" b="1" kern="0" spc="-66" dirty="0">
                <a:solidFill>
                  <a:srgbClr val="E5E0DF"/>
                </a:solidFill>
                <a:latin typeface="Inter" pitchFamily="34" charset="0"/>
                <a:ea typeface="Inter" pitchFamily="34" charset="-122"/>
                <a:cs typeface="Inter" pitchFamily="34" charset="-120"/>
              </a:rPr>
              <a:t>Reverse TCP Connection</a:t>
            </a:r>
            <a:endParaRPr lang="en-US" sz="2187" dirty="0"/>
          </a:p>
        </p:txBody>
      </p:sp>
      <p:sp>
        <p:nvSpPr>
          <p:cNvPr id="10" name="Text 8"/>
          <p:cNvSpPr/>
          <p:nvPr/>
        </p:nvSpPr>
        <p:spPr>
          <a:xfrm>
            <a:off x="5866209" y="3720822"/>
            <a:ext cx="2898100" cy="2843213"/>
          </a:xfrm>
          <a:prstGeom prst="rect">
            <a:avLst/>
          </a:prstGeom>
          <a:noFill/>
          <a:ln/>
        </p:spPr>
        <p:txBody>
          <a:bodyPr wrap="square" rtlCol="0" anchor="t"/>
          <a:lstStyle/>
          <a:p>
            <a:pPr marL="0" indent="0" algn="just">
              <a:lnSpc>
                <a:spcPts val="2799"/>
              </a:lnSpc>
              <a:buNone/>
            </a:pPr>
            <a:r>
              <a:rPr lang="en-US" sz="1750" kern="0" spc="-35" dirty="0">
                <a:solidFill>
                  <a:srgbClr val="E5E0DF"/>
                </a:solidFill>
                <a:latin typeface="Inter" pitchFamily="34" charset="0"/>
                <a:ea typeface="Inter" pitchFamily="34" charset="-122"/>
                <a:cs typeface="Inter" pitchFamily="34" charset="-120"/>
              </a:rPr>
              <a:t>A reverse TCP connection, on the other hand, is initiated by the victim's computer. It connects back to the attacker's server, allowing the attacker to bypass firewalls and other network security measures.</a:t>
            </a:r>
            <a:endParaRPr lang="en-US" sz="1750" dirty="0"/>
          </a:p>
        </p:txBody>
      </p:sp>
      <p:sp>
        <p:nvSpPr>
          <p:cNvPr id="11" name="Shape 9"/>
          <p:cNvSpPr/>
          <p:nvPr/>
        </p:nvSpPr>
        <p:spPr>
          <a:xfrm>
            <a:off x="9222462" y="2568297"/>
            <a:ext cx="3370064" cy="4231719"/>
          </a:xfrm>
          <a:prstGeom prst="roundRect">
            <a:avLst>
              <a:gd name="adj" fmla="val 2967"/>
            </a:avLst>
          </a:prstGeom>
          <a:solidFill>
            <a:srgbClr val="110080"/>
          </a:solidFill>
          <a:ln w="13811">
            <a:solidFill>
              <a:srgbClr val="140099"/>
            </a:solidFill>
            <a:prstDash val="solid"/>
          </a:ln>
        </p:spPr>
        <p:txBody>
          <a:bodyPr/>
          <a:lstStyle/>
          <a:p>
            <a:endParaRPr lang="en-US"/>
          </a:p>
        </p:txBody>
      </p:sp>
      <p:sp>
        <p:nvSpPr>
          <p:cNvPr id="12" name="Text 10"/>
          <p:cNvSpPr/>
          <p:nvPr/>
        </p:nvSpPr>
        <p:spPr>
          <a:xfrm>
            <a:off x="9458444" y="2804279"/>
            <a:ext cx="2898100" cy="694373"/>
          </a:xfrm>
          <a:prstGeom prst="rect">
            <a:avLst/>
          </a:prstGeom>
          <a:noFill/>
          <a:ln/>
        </p:spPr>
        <p:txBody>
          <a:bodyPr wrap="square" rtlCol="0" anchor="t"/>
          <a:lstStyle/>
          <a:p>
            <a:pPr marL="0" indent="0">
              <a:lnSpc>
                <a:spcPts val="2734"/>
              </a:lnSpc>
              <a:buNone/>
            </a:pPr>
            <a:r>
              <a:rPr lang="en-US" sz="2187" b="1" kern="0" spc="-66" dirty="0">
                <a:solidFill>
                  <a:srgbClr val="E5E0DF"/>
                </a:solidFill>
                <a:latin typeface="Inter" pitchFamily="34" charset="0"/>
                <a:ea typeface="Inter" pitchFamily="34" charset="-122"/>
                <a:cs typeface="Inter" pitchFamily="34" charset="-120"/>
              </a:rPr>
              <a:t>Difference Between TCP and </a:t>
            </a:r>
            <a:r>
              <a:rPr lang="en-US" sz="2187" b="1" kern="0" spc="-66" dirty="0" err="1">
                <a:solidFill>
                  <a:srgbClr val="E5E0DF"/>
                </a:solidFill>
                <a:latin typeface="Inter" pitchFamily="34" charset="0"/>
                <a:ea typeface="Inter" pitchFamily="34" charset="-122"/>
                <a:cs typeface="Inter" pitchFamily="34" charset="-120"/>
              </a:rPr>
              <a:t>ReverseTCP</a:t>
            </a:r>
            <a:endParaRPr lang="en-US" sz="2187" dirty="0"/>
          </a:p>
        </p:txBody>
      </p:sp>
      <p:sp>
        <p:nvSpPr>
          <p:cNvPr id="13" name="Text 11"/>
          <p:cNvSpPr/>
          <p:nvPr/>
        </p:nvSpPr>
        <p:spPr>
          <a:xfrm>
            <a:off x="9458444" y="3720822"/>
            <a:ext cx="2898100" cy="2843213"/>
          </a:xfrm>
          <a:prstGeom prst="rect">
            <a:avLst/>
          </a:prstGeom>
          <a:noFill/>
          <a:ln/>
        </p:spPr>
        <p:txBody>
          <a:bodyPr wrap="square" rtlCol="0" anchor="t"/>
          <a:lstStyle/>
          <a:p>
            <a:pPr marL="0" indent="0" algn="just">
              <a:lnSpc>
                <a:spcPts val="2799"/>
              </a:lnSpc>
              <a:buNone/>
            </a:pPr>
            <a:r>
              <a:rPr lang="en-US" sz="1750" kern="0" spc="-35" dirty="0">
                <a:solidFill>
                  <a:srgbClr val="E5E0DF"/>
                </a:solidFill>
                <a:latin typeface="Inter" pitchFamily="34" charset="0"/>
                <a:ea typeface="Inter" pitchFamily="34" charset="-122"/>
                <a:cs typeface="Inter" pitchFamily="34" charset="-120"/>
              </a:rPr>
              <a:t>The main difference between TCP and reverse TCP is the direction of the network connection. With TCP, the client initiates the connection, but with reverse TCP, the server initiates the connection.</a:t>
            </a:r>
            <a:endParaRPr lang="en-US" sz="175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1000"/>
                                        <p:tgtEl>
                                          <p:spTgt spid="6"/>
                                        </p:tgtEl>
                                      </p:cBhvr>
                                    </p:animEffect>
                                    <p:anim calcmode="lin" valueType="num">
                                      <p:cBhvr>
                                        <p:cTn id="13" dur="1000" fill="hold"/>
                                        <p:tgtEl>
                                          <p:spTgt spid="6"/>
                                        </p:tgtEl>
                                        <p:attrNameLst>
                                          <p:attrName>ppt_x</p:attrName>
                                        </p:attrNameLst>
                                      </p:cBhvr>
                                      <p:tavLst>
                                        <p:tav tm="0">
                                          <p:val>
                                            <p:strVal val="#ppt_x"/>
                                          </p:val>
                                        </p:tav>
                                        <p:tav tm="100000">
                                          <p:val>
                                            <p:strVal val="#ppt_x"/>
                                          </p:val>
                                        </p:tav>
                                      </p:tavLst>
                                    </p:anim>
                                    <p:anim calcmode="lin" valueType="num">
                                      <p:cBhvr>
                                        <p:cTn id="14" dur="1000" fill="hold"/>
                                        <p:tgtEl>
                                          <p:spTgt spid="6"/>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1000"/>
                                        <p:tgtEl>
                                          <p:spTgt spid="7"/>
                                        </p:tgtEl>
                                      </p:cBhvr>
                                    </p:animEffect>
                                    <p:anim calcmode="lin" valueType="num">
                                      <p:cBhvr>
                                        <p:cTn id="18" dur="1000" fill="hold"/>
                                        <p:tgtEl>
                                          <p:spTgt spid="7"/>
                                        </p:tgtEl>
                                        <p:attrNameLst>
                                          <p:attrName>ppt_x</p:attrName>
                                        </p:attrNameLst>
                                      </p:cBhvr>
                                      <p:tavLst>
                                        <p:tav tm="0">
                                          <p:val>
                                            <p:strVal val="#ppt_x"/>
                                          </p:val>
                                        </p:tav>
                                        <p:tav tm="100000">
                                          <p:val>
                                            <p:strVal val="#ppt_x"/>
                                          </p:val>
                                        </p:tav>
                                      </p:tavLst>
                                    </p:anim>
                                    <p:anim calcmode="lin" valueType="num">
                                      <p:cBhvr>
                                        <p:cTn id="19" dur="1000" fill="hold"/>
                                        <p:tgtEl>
                                          <p:spTgt spid="7"/>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fade">
                                      <p:cBhvr>
                                        <p:cTn id="22" dur="1000"/>
                                        <p:tgtEl>
                                          <p:spTgt spid="5"/>
                                        </p:tgtEl>
                                      </p:cBhvr>
                                    </p:animEffect>
                                    <p:anim calcmode="lin" valueType="num">
                                      <p:cBhvr>
                                        <p:cTn id="23" dur="1000" fill="hold"/>
                                        <p:tgtEl>
                                          <p:spTgt spid="5"/>
                                        </p:tgtEl>
                                        <p:attrNameLst>
                                          <p:attrName>ppt_x</p:attrName>
                                        </p:attrNameLst>
                                      </p:cBhvr>
                                      <p:tavLst>
                                        <p:tav tm="0">
                                          <p:val>
                                            <p:strVal val="#ppt_x"/>
                                          </p:val>
                                        </p:tav>
                                        <p:tav tm="100000">
                                          <p:val>
                                            <p:strVal val="#ppt_x"/>
                                          </p:val>
                                        </p:tav>
                                      </p:tavLst>
                                    </p:anim>
                                    <p:anim calcmode="lin" valueType="num">
                                      <p:cBhvr>
                                        <p:cTn id="24"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42" presetClass="entr" presetSubtype="0" fill="hold" grpId="0" nodeType="clickEffect">
                                  <p:stCondLst>
                                    <p:cond delay="0"/>
                                  </p:stCondLst>
                                  <p:childTnLst>
                                    <p:set>
                                      <p:cBhvr>
                                        <p:cTn id="28" dur="1" fill="hold">
                                          <p:stCondLst>
                                            <p:cond delay="0"/>
                                          </p:stCondLst>
                                        </p:cTn>
                                        <p:tgtEl>
                                          <p:spTgt spid="9"/>
                                        </p:tgtEl>
                                        <p:attrNameLst>
                                          <p:attrName>style.visibility</p:attrName>
                                        </p:attrNameLst>
                                      </p:cBhvr>
                                      <p:to>
                                        <p:strVal val="visible"/>
                                      </p:to>
                                    </p:set>
                                    <p:animEffect transition="in" filter="fade">
                                      <p:cBhvr>
                                        <p:cTn id="29" dur="1000"/>
                                        <p:tgtEl>
                                          <p:spTgt spid="9"/>
                                        </p:tgtEl>
                                      </p:cBhvr>
                                    </p:animEffect>
                                    <p:anim calcmode="lin" valueType="num">
                                      <p:cBhvr>
                                        <p:cTn id="30" dur="1000" fill="hold"/>
                                        <p:tgtEl>
                                          <p:spTgt spid="9"/>
                                        </p:tgtEl>
                                        <p:attrNameLst>
                                          <p:attrName>ppt_x</p:attrName>
                                        </p:attrNameLst>
                                      </p:cBhvr>
                                      <p:tavLst>
                                        <p:tav tm="0">
                                          <p:val>
                                            <p:strVal val="#ppt_x"/>
                                          </p:val>
                                        </p:tav>
                                        <p:tav tm="100000">
                                          <p:val>
                                            <p:strVal val="#ppt_x"/>
                                          </p:val>
                                        </p:tav>
                                      </p:tavLst>
                                    </p:anim>
                                    <p:anim calcmode="lin" valueType="num">
                                      <p:cBhvr>
                                        <p:cTn id="31" dur="1000" fill="hold"/>
                                        <p:tgtEl>
                                          <p:spTgt spid="9"/>
                                        </p:tgtEl>
                                        <p:attrNameLst>
                                          <p:attrName>ppt_y</p:attrName>
                                        </p:attrNameLst>
                                      </p:cBhvr>
                                      <p:tavLst>
                                        <p:tav tm="0">
                                          <p:val>
                                            <p:strVal val="#ppt_y+.1"/>
                                          </p:val>
                                        </p:tav>
                                        <p:tav tm="100000">
                                          <p:val>
                                            <p:strVal val="#ppt_y"/>
                                          </p:val>
                                        </p:tav>
                                      </p:tavLst>
                                    </p:anim>
                                  </p:childTnLst>
                                </p:cTn>
                              </p:par>
                              <p:par>
                                <p:cTn id="32" presetID="42" presetClass="entr" presetSubtype="0" fill="hold" grpId="0" nodeType="withEffect">
                                  <p:stCondLst>
                                    <p:cond delay="0"/>
                                  </p:stCondLst>
                                  <p:childTnLst>
                                    <p:set>
                                      <p:cBhvr>
                                        <p:cTn id="33" dur="1" fill="hold">
                                          <p:stCondLst>
                                            <p:cond delay="0"/>
                                          </p:stCondLst>
                                        </p:cTn>
                                        <p:tgtEl>
                                          <p:spTgt spid="10"/>
                                        </p:tgtEl>
                                        <p:attrNameLst>
                                          <p:attrName>style.visibility</p:attrName>
                                        </p:attrNameLst>
                                      </p:cBhvr>
                                      <p:to>
                                        <p:strVal val="visible"/>
                                      </p:to>
                                    </p:set>
                                    <p:animEffect transition="in" filter="fade">
                                      <p:cBhvr>
                                        <p:cTn id="34" dur="1000"/>
                                        <p:tgtEl>
                                          <p:spTgt spid="10"/>
                                        </p:tgtEl>
                                      </p:cBhvr>
                                    </p:animEffect>
                                    <p:anim calcmode="lin" valueType="num">
                                      <p:cBhvr>
                                        <p:cTn id="35" dur="1000" fill="hold"/>
                                        <p:tgtEl>
                                          <p:spTgt spid="10"/>
                                        </p:tgtEl>
                                        <p:attrNameLst>
                                          <p:attrName>ppt_x</p:attrName>
                                        </p:attrNameLst>
                                      </p:cBhvr>
                                      <p:tavLst>
                                        <p:tav tm="0">
                                          <p:val>
                                            <p:strVal val="#ppt_x"/>
                                          </p:val>
                                        </p:tav>
                                        <p:tav tm="100000">
                                          <p:val>
                                            <p:strVal val="#ppt_x"/>
                                          </p:val>
                                        </p:tav>
                                      </p:tavLst>
                                    </p:anim>
                                    <p:anim calcmode="lin" valueType="num">
                                      <p:cBhvr>
                                        <p:cTn id="36" dur="1000" fill="hold"/>
                                        <p:tgtEl>
                                          <p:spTgt spid="10"/>
                                        </p:tgtEl>
                                        <p:attrNameLst>
                                          <p:attrName>ppt_y</p:attrName>
                                        </p:attrNameLst>
                                      </p:cBhvr>
                                      <p:tavLst>
                                        <p:tav tm="0">
                                          <p:val>
                                            <p:strVal val="#ppt_y+.1"/>
                                          </p:val>
                                        </p:tav>
                                        <p:tav tm="100000">
                                          <p:val>
                                            <p:strVal val="#ppt_y"/>
                                          </p:val>
                                        </p:tav>
                                      </p:tavLst>
                                    </p:anim>
                                  </p:childTnLst>
                                </p:cTn>
                              </p:par>
                              <p:par>
                                <p:cTn id="37" presetID="42" presetClass="entr" presetSubtype="0" fill="hold" grpId="0" nodeType="withEffect">
                                  <p:stCondLst>
                                    <p:cond delay="0"/>
                                  </p:stCondLst>
                                  <p:childTnLst>
                                    <p:set>
                                      <p:cBhvr>
                                        <p:cTn id="38" dur="1" fill="hold">
                                          <p:stCondLst>
                                            <p:cond delay="0"/>
                                          </p:stCondLst>
                                        </p:cTn>
                                        <p:tgtEl>
                                          <p:spTgt spid="8"/>
                                        </p:tgtEl>
                                        <p:attrNameLst>
                                          <p:attrName>style.visibility</p:attrName>
                                        </p:attrNameLst>
                                      </p:cBhvr>
                                      <p:to>
                                        <p:strVal val="visible"/>
                                      </p:to>
                                    </p:set>
                                    <p:animEffect transition="in" filter="fade">
                                      <p:cBhvr>
                                        <p:cTn id="39" dur="1000"/>
                                        <p:tgtEl>
                                          <p:spTgt spid="8"/>
                                        </p:tgtEl>
                                      </p:cBhvr>
                                    </p:animEffect>
                                    <p:anim calcmode="lin" valueType="num">
                                      <p:cBhvr>
                                        <p:cTn id="40" dur="1000" fill="hold"/>
                                        <p:tgtEl>
                                          <p:spTgt spid="8"/>
                                        </p:tgtEl>
                                        <p:attrNameLst>
                                          <p:attrName>ppt_x</p:attrName>
                                        </p:attrNameLst>
                                      </p:cBhvr>
                                      <p:tavLst>
                                        <p:tav tm="0">
                                          <p:val>
                                            <p:strVal val="#ppt_x"/>
                                          </p:val>
                                        </p:tav>
                                        <p:tav tm="100000">
                                          <p:val>
                                            <p:strVal val="#ppt_x"/>
                                          </p:val>
                                        </p:tav>
                                      </p:tavLst>
                                    </p:anim>
                                    <p:anim calcmode="lin" valueType="num">
                                      <p:cBhvr>
                                        <p:cTn id="41"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4" presetID="42" presetClass="entr" presetSubtype="0" fill="hold" grpId="0" nodeType="clickEffect">
                                  <p:stCondLst>
                                    <p:cond delay="0"/>
                                  </p:stCondLst>
                                  <p:childTnLst>
                                    <p:set>
                                      <p:cBhvr>
                                        <p:cTn id="45" dur="1" fill="hold">
                                          <p:stCondLst>
                                            <p:cond delay="0"/>
                                          </p:stCondLst>
                                        </p:cTn>
                                        <p:tgtEl>
                                          <p:spTgt spid="12"/>
                                        </p:tgtEl>
                                        <p:attrNameLst>
                                          <p:attrName>style.visibility</p:attrName>
                                        </p:attrNameLst>
                                      </p:cBhvr>
                                      <p:to>
                                        <p:strVal val="visible"/>
                                      </p:to>
                                    </p:set>
                                    <p:animEffect transition="in" filter="fade">
                                      <p:cBhvr>
                                        <p:cTn id="46" dur="1000"/>
                                        <p:tgtEl>
                                          <p:spTgt spid="12"/>
                                        </p:tgtEl>
                                      </p:cBhvr>
                                    </p:animEffect>
                                    <p:anim calcmode="lin" valueType="num">
                                      <p:cBhvr>
                                        <p:cTn id="47" dur="1000" fill="hold"/>
                                        <p:tgtEl>
                                          <p:spTgt spid="12"/>
                                        </p:tgtEl>
                                        <p:attrNameLst>
                                          <p:attrName>ppt_x</p:attrName>
                                        </p:attrNameLst>
                                      </p:cBhvr>
                                      <p:tavLst>
                                        <p:tav tm="0">
                                          <p:val>
                                            <p:strVal val="#ppt_x"/>
                                          </p:val>
                                        </p:tav>
                                        <p:tav tm="100000">
                                          <p:val>
                                            <p:strVal val="#ppt_x"/>
                                          </p:val>
                                        </p:tav>
                                      </p:tavLst>
                                    </p:anim>
                                    <p:anim calcmode="lin" valueType="num">
                                      <p:cBhvr>
                                        <p:cTn id="48" dur="1000" fill="hold"/>
                                        <p:tgtEl>
                                          <p:spTgt spid="12"/>
                                        </p:tgtEl>
                                        <p:attrNameLst>
                                          <p:attrName>ppt_y</p:attrName>
                                        </p:attrNameLst>
                                      </p:cBhvr>
                                      <p:tavLst>
                                        <p:tav tm="0">
                                          <p:val>
                                            <p:strVal val="#ppt_y+.1"/>
                                          </p:val>
                                        </p:tav>
                                        <p:tav tm="100000">
                                          <p:val>
                                            <p:strVal val="#ppt_y"/>
                                          </p:val>
                                        </p:tav>
                                      </p:tavLst>
                                    </p:anim>
                                  </p:childTnLst>
                                </p:cTn>
                              </p:par>
                              <p:par>
                                <p:cTn id="49" presetID="42" presetClass="entr" presetSubtype="0" fill="hold" grpId="0" nodeType="withEffect">
                                  <p:stCondLst>
                                    <p:cond delay="0"/>
                                  </p:stCondLst>
                                  <p:childTnLst>
                                    <p:set>
                                      <p:cBhvr>
                                        <p:cTn id="50" dur="1" fill="hold">
                                          <p:stCondLst>
                                            <p:cond delay="0"/>
                                          </p:stCondLst>
                                        </p:cTn>
                                        <p:tgtEl>
                                          <p:spTgt spid="13"/>
                                        </p:tgtEl>
                                        <p:attrNameLst>
                                          <p:attrName>style.visibility</p:attrName>
                                        </p:attrNameLst>
                                      </p:cBhvr>
                                      <p:to>
                                        <p:strVal val="visible"/>
                                      </p:to>
                                    </p:set>
                                    <p:animEffect transition="in" filter="fade">
                                      <p:cBhvr>
                                        <p:cTn id="51" dur="1000"/>
                                        <p:tgtEl>
                                          <p:spTgt spid="13"/>
                                        </p:tgtEl>
                                      </p:cBhvr>
                                    </p:animEffect>
                                    <p:anim calcmode="lin" valueType="num">
                                      <p:cBhvr>
                                        <p:cTn id="52" dur="1000" fill="hold"/>
                                        <p:tgtEl>
                                          <p:spTgt spid="13"/>
                                        </p:tgtEl>
                                        <p:attrNameLst>
                                          <p:attrName>ppt_x</p:attrName>
                                        </p:attrNameLst>
                                      </p:cBhvr>
                                      <p:tavLst>
                                        <p:tav tm="0">
                                          <p:val>
                                            <p:strVal val="#ppt_x"/>
                                          </p:val>
                                        </p:tav>
                                        <p:tav tm="100000">
                                          <p:val>
                                            <p:strVal val="#ppt_x"/>
                                          </p:val>
                                        </p:tav>
                                      </p:tavLst>
                                    </p:anim>
                                    <p:anim calcmode="lin" valueType="num">
                                      <p:cBhvr>
                                        <p:cTn id="53" dur="1000" fill="hold"/>
                                        <p:tgtEl>
                                          <p:spTgt spid="13"/>
                                        </p:tgtEl>
                                        <p:attrNameLst>
                                          <p:attrName>ppt_y</p:attrName>
                                        </p:attrNameLst>
                                      </p:cBhvr>
                                      <p:tavLst>
                                        <p:tav tm="0">
                                          <p:val>
                                            <p:strVal val="#ppt_y+.1"/>
                                          </p:val>
                                        </p:tav>
                                        <p:tav tm="100000">
                                          <p:val>
                                            <p:strVal val="#ppt_y"/>
                                          </p:val>
                                        </p:tav>
                                      </p:tavLst>
                                    </p:anim>
                                  </p:childTnLst>
                                </p:cTn>
                              </p:par>
                              <p:par>
                                <p:cTn id="54" presetID="42" presetClass="entr" presetSubtype="0" fill="hold" grpId="0" nodeType="withEffect">
                                  <p:stCondLst>
                                    <p:cond delay="0"/>
                                  </p:stCondLst>
                                  <p:childTnLst>
                                    <p:set>
                                      <p:cBhvr>
                                        <p:cTn id="55" dur="1" fill="hold">
                                          <p:stCondLst>
                                            <p:cond delay="0"/>
                                          </p:stCondLst>
                                        </p:cTn>
                                        <p:tgtEl>
                                          <p:spTgt spid="11"/>
                                        </p:tgtEl>
                                        <p:attrNameLst>
                                          <p:attrName>style.visibility</p:attrName>
                                        </p:attrNameLst>
                                      </p:cBhvr>
                                      <p:to>
                                        <p:strVal val="visible"/>
                                      </p:to>
                                    </p:set>
                                    <p:animEffect transition="in" filter="fade">
                                      <p:cBhvr>
                                        <p:cTn id="56" dur="1000"/>
                                        <p:tgtEl>
                                          <p:spTgt spid="11"/>
                                        </p:tgtEl>
                                      </p:cBhvr>
                                    </p:animEffect>
                                    <p:anim calcmode="lin" valueType="num">
                                      <p:cBhvr>
                                        <p:cTn id="57" dur="1000" fill="hold"/>
                                        <p:tgtEl>
                                          <p:spTgt spid="11"/>
                                        </p:tgtEl>
                                        <p:attrNameLst>
                                          <p:attrName>ppt_x</p:attrName>
                                        </p:attrNameLst>
                                      </p:cBhvr>
                                      <p:tavLst>
                                        <p:tav tm="0">
                                          <p:val>
                                            <p:strVal val="#ppt_x"/>
                                          </p:val>
                                        </p:tav>
                                        <p:tav tm="100000">
                                          <p:val>
                                            <p:strVal val="#ppt_x"/>
                                          </p:val>
                                        </p:tav>
                                      </p:tavLst>
                                    </p:anim>
                                    <p:anim calcmode="lin" valueType="num">
                                      <p:cBhvr>
                                        <p:cTn id="58"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P spid="12" grpId="0" animBg="1"/>
      <p:bldP spid="13"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128336" y="0"/>
            <a:ext cx="14630400" cy="8229600"/>
          </a:xfrm>
          <a:prstGeom prst="rect">
            <a:avLst/>
          </a:prstGeom>
          <a:solidFill>
            <a:srgbClr val="0C0C0C"/>
          </a:solidFill>
          <a:ln/>
        </p:spPr>
        <p:txBody>
          <a:bodyPr/>
          <a:lstStyle/>
          <a:p>
            <a:endParaRPr lang="en-US"/>
          </a:p>
        </p:txBody>
      </p:sp>
      <p:sp>
        <p:nvSpPr>
          <p:cNvPr id="3" name="Shape 1"/>
          <p:cNvSpPr/>
          <p:nvPr/>
        </p:nvSpPr>
        <p:spPr>
          <a:xfrm>
            <a:off x="-128336" y="-476"/>
            <a:ext cx="14630400" cy="8230076"/>
          </a:xfrm>
          <a:prstGeom prst="rect">
            <a:avLst/>
          </a:prstGeom>
          <a:solidFill>
            <a:srgbClr val="272525"/>
          </a:solidFill>
          <a:ln w="13454">
            <a:solidFill>
              <a:srgbClr val="565151"/>
            </a:solidFill>
            <a:prstDash val="solid"/>
          </a:ln>
        </p:spPr>
        <p:txBody>
          <a:bodyPr/>
          <a:lstStyle/>
          <a:p>
            <a:endParaRPr lang="en-US" dirty="0"/>
          </a:p>
        </p:txBody>
      </p:sp>
      <p:sp>
        <p:nvSpPr>
          <p:cNvPr id="4" name="Text 2"/>
          <p:cNvSpPr/>
          <p:nvPr/>
        </p:nvSpPr>
        <p:spPr>
          <a:xfrm>
            <a:off x="2038363" y="596027"/>
            <a:ext cx="9791105" cy="677466"/>
          </a:xfrm>
          <a:prstGeom prst="rect">
            <a:avLst/>
          </a:prstGeom>
          <a:noFill/>
          <a:ln/>
        </p:spPr>
        <p:txBody>
          <a:bodyPr wrap="none" rtlCol="0" anchor="t"/>
          <a:lstStyle/>
          <a:p>
            <a:pPr marL="0" indent="0">
              <a:lnSpc>
                <a:spcPts val="5334"/>
              </a:lnSpc>
              <a:buNone/>
            </a:pPr>
            <a:r>
              <a:rPr lang="en-US" sz="4267" b="1" kern="0" spc="-128" dirty="0">
                <a:solidFill>
                  <a:srgbClr val="FFFFFF"/>
                </a:solidFill>
                <a:latin typeface="Inter" pitchFamily="34" charset="0"/>
                <a:ea typeface="Inter" pitchFamily="34" charset="-122"/>
                <a:cs typeface="Inter" pitchFamily="34" charset="-120"/>
              </a:rPr>
              <a:t>Generating Payloads for Reverse Shells</a:t>
            </a:r>
            <a:endParaRPr lang="en-US" sz="4267" dirty="0"/>
          </a:p>
        </p:txBody>
      </p:sp>
      <p:pic>
        <p:nvPicPr>
          <p:cNvPr id="5" name="Image 0" descr="preencoded.png"/>
          <p:cNvPicPr>
            <a:picLocks noChangeAspect="1"/>
          </p:cNvPicPr>
          <p:nvPr/>
        </p:nvPicPr>
        <p:blipFill>
          <a:blip r:embed="rId3"/>
          <a:stretch>
            <a:fillRect/>
          </a:stretch>
        </p:blipFill>
        <p:spPr>
          <a:xfrm>
            <a:off x="2038363" y="1706999"/>
            <a:ext cx="3215521" cy="1987272"/>
          </a:xfrm>
          <a:prstGeom prst="rect">
            <a:avLst/>
          </a:prstGeom>
        </p:spPr>
      </p:pic>
      <p:sp>
        <p:nvSpPr>
          <p:cNvPr id="6" name="Text 3"/>
          <p:cNvSpPr/>
          <p:nvPr/>
        </p:nvSpPr>
        <p:spPr>
          <a:xfrm>
            <a:off x="2038363" y="3965138"/>
            <a:ext cx="2330291" cy="338733"/>
          </a:xfrm>
          <a:prstGeom prst="rect">
            <a:avLst/>
          </a:prstGeom>
          <a:noFill/>
          <a:ln/>
        </p:spPr>
        <p:txBody>
          <a:bodyPr wrap="none" rtlCol="0" anchor="t"/>
          <a:lstStyle/>
          <a:p>
            <a:pPr marL="0" indent="0" algn="l">
              <a:lnSpc>
                <a:spcPts val="2667"/>
              </a:lnSpc>
              <a:buNone/>
            </a:pPr>
            <a:r>
              <a:rPr lang="en-US" sz="2134" b="1" kern="0" spc="-64" dirty="0">
                <a:solidFill>
                  <a:srgbClr val="FFFFFF"/>
                </a:solidFill>
                <a:latin typeface="Inter" pitchFamily="34" charset="0"/>
                <a:ea typeface="Inter" pitchFamily="34" charset="-122"/>
                <a:cs typeface="Inter" pitchFamily="34" charset="-120"/>
              </a:rPr>
              <a:t>What is a Payload?</a:t>
            </a:r>
            <a:endParaRPr lang="en-US" sz="2134" dirty="0"/>
          </a:p>
        </p:txBody>
      </p:sp>
      <p:sp>
        <p:nvSpPr>
          <p:cNvPr id="7" name="Text 4"/>
          <p:cNvSpPr/>
          <p:nvPr/>
        </p:nvSpPr>
        <p:spPr>
          <a:xfrm>
            <a:off x="2038363" y="4520565"/>
            <a:ext cx="3215521" cy="2774633"/>
          </a:xfrm>
          <a:prstGeom prst="rect">
            <a:avLst/>
          </a:prstGeom>
          <a:noFill/>
          <a:ln/>
        </p:spPr>
        <p:txBody>
          <a:bodyPr wrap="square" rtlCol="0" anchor="t"/>
          <a:lstStyle/>
          <a:p>
            <a:pPr algn="just">
              <a:lnSpc>
                <a:spcPts val="2731"/>
              </a:lnSpc>
            </a:pPr>
            <a:r>
              <a:rPr lang="en-US" sz="1707" kern="0" spc="-34" dirty="0">
                <a:solidFill>
                  <a:srgbClr val="E5E0DF"/>
                </a:solidFill>
                <a:latin typeface="Inter" pitchFamily="34" charset="0"/>
                <a:ea typeface="Inter" pitchFamily="34" charset="-122"/>
                <a:cs typeface="Inter" pitchFamily="34" charset="-120"/>
              </a:rPr>
              <a:t>A payload is a piece of code sent to the victim's computer for execution. It often includes commands for establishing a reverse shell or other malicious activities. commands that the attacker wants to run on the compromised computer.</a:t>
            </a:r>
            <a:endParaRPr lang="en-US" sz="1707" dirty="0"/>
          </a:p>
          <a:p>
            <a:pPr algn="just">
              <a:lnSpc>
                <a:spcPts val="2731"/>
              </a:lnSpc>
            </a:pPr>
            <a:endParaRPr lang="en-US" sz="1707" dirty="0"/>
          </a:p>
        </p:txBody>
      </p:sp>
      <p:pic>
        <p:nvPicPr>
          <p:cNvPr id="8" name="Image 1" descr="preencoded.png"/>
          <p:cNvPicPr>
            <a:picLocks noChangeAspect="1"/>
          </p:cNvPicPr>
          <p:nvPr/>
        </p:nvPicPr>
        <p:blipFill>
          <a:blip r:embed="rId4"/>
          <a:stretch>
            <a:fillRect/>
          </a:stretch>
        </p:blipFill>
        <p:spPr>
          <a:xfrm>
            <a:off x="5579044" y="1706999"/>
            <a:ext cx="3215521" cy="1987272"/>
          </a:xfrm>
          <a:prstGeom prst="rect">
            <a:avLst/>
          </a:prstGeom>
        </p:spPr>
      </p:pic>
      <p:sp>
        <p:nvSpPr>
          <p:cNvPr id="9" name="Text 5"/>
          <p:cNvSpPr/>
          <p:nvPr/>
        </p:nvSpPr>
        <p:spPr>
          <a:xfrm>
            <a:off x="5579044" y="3965138"/>
            <a:ext cx="3215521" cy="677466"/>
          </a:xfrm>
          <a:prstGeom prst="rect">
            <a:avLst/>
          </a:prstGeom>
          <a:noFill/>
          <a:ln/>
        </p:spPr>
        <p:txBody>
          <a:bodyPr wrap="square" rtlCol="0" anchor="t"/>
          <a:lstStyle/>
          <a:p>
            <a:pPr marL="0" indent="0" algn="l">
              <a:lnSpc>
                <a:spcPts val="2667"/>
              </a:lnSpc>
              <a:buNone/>
            </a:pPr>
            <a:r>
              <a:rPr lang="en-US" sz="2134" b="1" kern="0" spc="-64" dirty="0">
                <a:solidFill>
                  <a:srgbClr val="FFFFFF"/>
                </a:solidFill>
                <a:latin typeface="Inter" pitchFamily="34" charset="0"/>
                <a:ea typeface="Inter" pitchFamily="34" charset="-122"/>
                <a:cs typeface="Inter" pitchFamily="34" charset="-120"/>
              </a:rPr>
              <a:t>Generating Payloads with Metasploit</a:t>
            </a:r>
            <a:endParaRPr lang="en-US" sz="2134" dirty="0"/>
          </a:p>
        </p:txBody>
      </p:sp>
      <p:sp>
        <p:nvSpPr>
          <p:cNvPr id="10" name="Text 6"/>
          <p:cNvSpPr/>
          <p:nvPr/>
        </p:nvSpPr>
        <p:spPr>
          <a:xfrm>
            <a:off x="5579044" y="4859298"/>
            <a:ext cx="3215521" cy="2427803"/>
          </a:xfrm>
          <a:prstGeom prst="rect">
            <a:avLst/>
          </a:prstGeom>
          <a:noFill/>
          <a:ln/>
        </p:spPr>
        <p:txBody>
          <a:bodyPr wrap="square" rtlCol="0" anchor="t"/>
          <a:lstStyle/>
          <a:p>
            <a:pPr algn="just">
              <a:lnSpc>
                <a:spcPts val="2731"/>
              </a:lnSpc>
            </a:pPr>
            <a:r>
              <a:rPr lang="en-US" sz="1707" kern="0" spc="-34" dirty="0" err="1">
                <a:solidFill>
                  <a:srgbClr val="E5E0DF"/>
                </a:solidFill>
                <a:latin typeface="Inter" pitchFamily="34" charset="0"/>
                <a:ea typeface="Inter" pitchFamily="34" charset="-122"/>
                <a:cs typeface="Inter" pitchFamily="34" charset="-120"/>
              </a:rPr>
              <a:t>Metasploit</a:t>
            </a:r>
            <a:r>
              <a:rPr lang="en-US" sz="1707" kern="0" spc="-34" dirty="0">
                <a:solidFill>
                  <a:srgbClr val="E5E0DF"/>
                </a:solidFill>
                <a:latin typeface="Inter" pitchFamily="34" charset="0"/>
                <a:ea typeface="Inter" pitchFamily="34" charset="-122"/>
                <a:cs typeface="Inter" pitchFamily="34" charset="-120"/>
              </a:rPr>
              <a:t> is a framework for creating payloads for reverse shells. It provides tools to craft payloads for various operating systems. However, default payloads may be detected by antivirus programs like Windows Defender unless obfuscated.</a:t>
            </a:r>
            <a:endParaRPr lang="en-US" sz="1707" dirty="0"/>
          </a:p>
        </p:txBody>
      </p:sp>
      <p:pic>
        <p:nvPicPr>
          <p:cNvPr id="11" name="Image 2" descr="preencoded.png"/>
          <p:cNvPicPr>
            <a:picLocks noChangeAspect="1"/>
          </p:cNvPicPr>
          <p:nvPr/>
        </p:nvPicPr>
        <p:blipFill>
          <a:blip r:embed="rId5"/>
          <a:stretch>
            <a:fillRect/>
          </a:stretch>
        </p:blipFill>
        <p:spPr>
          <a:xfrm>
            <a:off x="9119725" y="1706999"/>
            <a:ext cx="3215640" cy="1987391"/>
          </a:xfrm>
          <a:prstGeom prst="rect">
            <a:avLst/>
          </a:prstGeom>
        </p:spPr>
      </p:pic>
      <p:sp>
        <p:nvSpPr>
          <p:cNvPr id="12" name="Text 7"/>
          <p:cNvSpPr/>
          <p:nvPr/>
        </p:nvSpPr>
        <p:spPr>
          <a:xfrm>
            <a:off x="9119725" y="3965258"/>
            <a:ext cx="3215640" cy="677466"/>
          </a:xfrm>
          <a:prstGeom prst="rect">
            <a:avLst/>
          </a:prstGeom>
          <a:noFill/>
          <a:ln/>
        </p:spPr>
        <p:txBody>
          <a:bodyPr wrap="square" rtlCol="0" anchor="t"/>
          <a:lstStyle/>
          <a:p>
            <a:pPr marL="0" indent="0" algn="l">
              <a:lnSpc>
                <a:spcPts val="2667"/>
              </a:lnSpc>
              <a:buNone/>
            </a:pPr>
            <a:r>
              <a:rPr lang="en-US" sz="2134" b="1" kern="0" spc="-64" dirty="0">
                <a:solidFill>
                  <a:srgbClr val="FFFFFF"/>
                </a:solidFill>
                <a:latin typeface="Inter" pitchFamily="34" charset="0"/>
                <a:ea typeface="Inter" pitchFamily="34" charset="-122"/>
                <a:cs typeface="Inter" pitchFamily="34" charset="-120"/>
              </a:rPr>
              <a:t>Generating Payloads with Python</a:t>
            </a:r>
            <a:endParaRPr lang="en-US" sz="2134" dirty="0"/>
          </a:p>
        </p:txBody>
      </p:sp>
      <p:sp>
        <p:nvSpPr>
          <p:cNvPr id="13" name="Text 8"/>
          <p:cNvSpPr/>
          <p:nvPr/>
        </p:nvSpPr>
        <p:spPr>
          <a:xfrm>
            <a:off x="9119725" y="4859417"/>
            <a:ext cx="3215640" cy="2774633"/>
          </a:xfrm>
          <a:prstGeom prst="rect">
            <a:avLst/>
          </a:prstGeom>
          <a:noFill/>
          <a:ln/>
        </p:spPr>
        <p:txBody>
          <a:bodyPr wrap="square" rtlCol="0" anchor="t"/>
          <a:lstStyle/>
          <a:p>
            <a:pPr algn="just">
              <a:lnSpc>
                <a:spcPts val="2731"/>
              </a:lnSpc>
            </a:pPr>
            <a:r>
              <a:rPr lang="en-US" sz="1707" kern="0" spc="-34" dirty="0">
                <a:solidFill>
                  <a:srgbClr val="E5E0DF"/>
                </a:solidFill>
                <a:latin typeface="Inter" pitchFamily="34" charset="0"/>
                <a:ea typeface="Inter" pitchFamily="34" charset="-122"/>
                <a:cs typeface="Inter" pitchFamily="34" charset="-120"/>
              </a:rPr>
              <a:t>Python is a versatile programming language often used to create payloads for reverse shells. Attackers use techniques like obfuscation or encryption to bypass antivirus tools and avoid detection.</a:t>
            </a:r>
            <a:endParaRPr lang="en-US" sz="1707"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nodeType="clickEffect">
                                  <p:stCondLst>
                                    <p:cond delay="0"/>
                                  </p:stCondLst>
                                  <p:childTnLst>
                                    <p:set>
                                      <p:cBhvr>
                                        <p:cTn id="13" dur="1" fill="hold">
                                          <p:stCondLst>
                                            <p:cond delay="0"/>
                                          </p:stCondLst>
                                        </p:cTn>
                                        <p:tgtEl>
                                          <p:spTgt spid="5"/>
                                        </p:tgtEl>
                                        <p:attrNameLst>
                                          <p:attrName>style.visibility</p:attrName>
                                        </p:attrNameLst>
                                      </p:cBhvr>
                                      <p:to>
                                        <p:strVal val="visible"/>
                                      </p:to>
                                    </p:set>
                                    <p:anim calcmode="lin" valueType="num">
                                      <p:cBhvr additive="base">
                                        <p:cTn id="14" dur="500" fill="hold"/>
                                        <p:tgtEl>
                                          <p:spTgt spid="5"/>
                                        </p:tgtEl>
                                        <p:attrNameLst>
                                          <p:attrName>ppt_x</p:attrName>
                                        </p:attrNameLst>
                                      </p:cBhvr>
                                      <p:tavLst>
                                        <p:tav tm="0">
                                          <p:val>
                                            <p:strVal val="#ppt_x"/>
                                          </p:val>
                                        </p:tav>
                                        <p:tav tm="100000">
                                          <p:val>
                                            <p:strVal val="#ppt_x"/>
                                          </p:val>
                                        </p:tav>
                                      </p:tavLst>
                                    </p:anim>
                                    <p:anim calcmode="lin" valueType="num">
                                      <p:cBhvr additive="base">
                                        <p:cTn id="15"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42" presetClass="entr" presetSubtype="0" fill="hold" grpId="0" nodeType="click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1000"/>
                                        <p:tgtEl>
                                          <p:spTgt spid="7"/>
                                        </p:tgtEl>
                                      </p:cBhvr>
                                    </p:animEffect>
                                    <p:anim calcmode="lin" valueType="num">
                                      <p:cBhvr>
                                        <p:cTn id="21" dur="1000" fill="hold"/>
                                        <p:tgtEl>
                                          <p:spTgt spid="7"/>
                                        </p:tgtEl>
                                        <p:attrNameLst>
                                          <p:attrName>ppt_x</p:attrName>
                                        </p:attrNameLst>
                                      </p:cBhvr>
                                      <p:tavLst>
                                        <p:tav tm="0">
                                          <p:val>
                                            <p:strVal val="#ppt_x"/>
                                          </p:val>
                                        </p:tav>
                                        <p:tav tm="100000">
                                          <p:val>
                                            <p:strVal val="#ppt_x"/>
                                          </p:val>
                                        </p:tav>
                                      </p:tavLst>
                                    </p:anim>
                                    <p:anim calcmode="lin" valueType="num">
                                      <p:cBhvr>
                                        <p:cTn id="22" dur="1000" fill="hold"/>
                                        <p:tgtEl>
                                          <p:spTgt spid="7"/>
                                        </p:tgtEl>
                                        <p:attrNameLst>
                                          <p:attrName>ppt_y</p:attrName>
                                        </p:attrNameLst>
                                      </p:cBhvr>
                                      <p:tavLst>
                                        <p:tav tm="0">
                                          <p:val>
                                            <p:strVal val="#ppt_y+.1"/>
                                          </p:val>
                                        </p:tav>
                                        <p:tav tm="100000">
                                          <p:val>
                                            <p:strVal val="#ppt_y"/>
                                          </p:val>
                                        </p:tav>
                                      </p:tavLst>
                                    </p:anim>
                                  </p:childTnLst>
                                </p:cTn>
                              </p:par>
                              <p:par>
                                <p:cTn id="23" presetID="42" presetClass="entr" presetSubtype="0" fill="hold" grpId="0" nodeType="withEffect">
                                  <p:stCondLst>
                                    <p:cond delay="0"/>
                                  </p:stCondLst>
                                  <p:childTnLst>
                                    <p:set>
                                      <p:cBhvr>
                                        <p:cTn id="24" dur="1" fill="hold">
                                          <p:stCondLst>
                                            <p:cond delay="0"/>
                                          </p:stCondLst>
                                        </p:cTn>
                                        <p:tgtEl>
                                          <p:spTgt spid="6"/>
                                        </p:tgtEl>
                                        <p:attrNameLst>
                                          <p:attrName>style.visibility</p:attrName>
                                        </p:attrNameLst>
                                      </p:cBhvr>
                                      <p:to>
                                        <p:strVal val="visible"/>
                                      </p:to>
                                    </p:set>
                                    <p:animEffect transition="in" filter="fade">
                                      <p:cBhvr>
                                        <p:cTn id="25" dur="1000"/>
                                        <p:tgtEl>
                                          <p:spTgt spid="6"/>
                                        </p:tgtEl>
                                      </p:cBhvr>
                                    </p:animEffect>
                                    <p:anim calcmode="lin" valueType="num">
                                      <p:cBhvr>
                                        <p:cTn id="26" dur="1000" fill="hold"/>
                                        <p:tgtEl>
                                          <p:spTgt spid="6"/>
                                        </p:tgtEl>
                                        <p:attrNameLst>
                                          <p:attrName>ppt_x</p:attrName>
                                        </p:attrNameLst>
                                      </p:cBhvr>
                                      <p:tavLst>
                                        <p:tav tm="0">
                                          <p:val>
                                            <p:strVal val="#ppt_x"/>
                                          </p:val>
                                        </p:tav>
                                        <p:tav tm="100000">
                                          <p:val>
                                            <p:strVal val="#ppt_x"/>
                                          </p:val>
                                        </p:tav>
                                      </p:tavLst>
                                    </p:anim>
                                    <p:anim calcmode="lin" valueType="num">
                                      <p:cBhvr>
                                        <p:cTn id="27"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nodeType="clickEffect">
                                  <p:stCondLst>
                                    <p:cond delay="0"/>
                                  </p:stCondLst>
                                  <p:childTnLst>
                                    <p:set>
                                      <p:cBhvr>
                                        <p:cTn id="31" dur="1" fill="hold">
                                          <p:stCondLst>
                                            <p:cond delay="0"/>
                                          </p:stCondLst>
                                        </p:cTn>
                                        <p:tgtEl>
                                          <p:spTgt spid="8"/>
                                        </p:tgtEl>
                                        <p:attrNameLst>
                                          <p:attrName>style.visibility</p:attrName>
                                        </p:attrNameLst>
                                      </p:cBhvr>
                                      <p:to>
                                        <p:strVal val="visible"/>
                                      </p:to>
                                    </p:set>
                                    <p:anim calcmode="lin" valueType="num">
                                      <p:cBhvr additive="base">
                                        <p:cTn id="32" dur="500" fill="hold"/>
                                        <p:tgtEl>
                                          <p:spTgt spid="8"/>
                                        </p:tgtEl>
                                        <p:attrNameLst>
                                          <p:attrName>ppt_x</p:attrName>
                                        </p:attrNameLst>
                                      </p:cBhvr>
                                      <p:tavLst>
                                        <p:tav tm="0">
                                          <p:val>
                                            <p:strVal val="#ppt_x"/>
                                          </p:val>
                                        </p:tav>
                                        <p:tav tm="100000">
                                          <p:val>
                                            <p:strVal val="#ppt_x"/>
                                          </p:val>
                                        </p:tav>
                                      </p:tavLst>
                                    </p:anim>
                                    <p:anim calcmode="lin" valueType="num">
                                      <p:cBhvr additive="base">
                                        <p:cTn id="33"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42" presetClass="entr" presetSubtype="0" fill="hold" grpId="0" nodeType="clickEffect">
                                  <p:stCondLst>
                                    <p:cond delay="0"/>
                                  </p:stCondLst>
                                  <p:childTnLst>
                                    <p:set>
                                      <p:cBhvr>
                                        <p:cTn id="37" dur="1" fill="hold">
                                          <p:stCondLst>
                                            <p:cond delay="0"/>
                                          </p:stCondLst>
                                        </p:cTn>
                                        <p:tgtEl>
                                          <p:spTgt spid="10"/>
                                        </p:tgtEl>
                                        <p:attrNameLst>
                                          <p:attrName>style.visibility</p:attrName>
                                        </p:attrNameLst>
                                      </p:cBhvr>
                                      <p:to>
                                        <p:strVal val="visible"/>
                                      </p:to>
                                    </p:set>
                                    <p:animEffect transition="in" filter="fade">
                                      <p:cBhvr>
                                        <p:cTn id="38" dur="1000"/>
                                        <p:tgtEl>
                                          <p:spTgt spid="10"/>
                                        </p:tgtEl>
                                      </p:cBhvr>
                                    </p:animEffect>
                                    <p:anim calcmode="lin" valueType="num">
                                      <p:cBhvr>
                                        <p:cTn id="39" dur="1000" fill="hold"/>
                                        <p:tgtEl>
                                          <p:spTgt spid="10"/>
                                        </p:tgtEl>
                                        <p:attrNameLst>
                                          <p:attrName>ppt_x</p:attrName>
                                        </p:attrNameLst>
                                      </p:cBhvr>
                                      <p:tavLst>
                                        <p:tav tm="0">
                                          <p:val>
                                            <p:strVal val="#ppt_x"/>
                                          </p:val>
                                        </p:tav>
                                        <p:tav tm="100000">
                                          <p:val>
                                            <p:strVal val="#ppt_x"/>
                                          </p:val>
                                        </p:tav>
                                      </p:tavLst>
                                    </p:anim>
                                    <p:anim calcmode="lin" valueType="num">
                                      <p:cBhvr>
                                        <p:cTn id="40" dur="1000" fill="hold"/>
                                        <p:tgtEl>
                                          <p:spTgt spid="10"/>
                                        </p:tgtEl>
                                        <p:attrNameLst>
                                          <p:attrName>ppt_y</p:attrName>
                                        </p:attrNameLst>
                                      </p:cBhvr>
                                      <p:tavLst>
                                        <p:tav tm="0">
                                          <p:val>
                                            <p:strVal val="#ppt_y+.1"/>
                                          </p:val>
                                        </p:tav>
                                        <p:tav tm="100000">
                                          <p:val>
                                            <p:strVal val="#ppt_y"/>
                                          </p:val>
                                        </p:tav>
                                      </p:tavLst>
                                    </p:anim>
                                  </p:childTnLst>
                                </p:cTn>
                              </p:par>
                              <p:par>
                                <p:cTn id="41" presetID="42" presetClass="entr" presetSubtype="0" fill="hold" grpId="0" nodeType="withEffect">
                                  <p:stCondLst>
                                    <p:cond delay="0"/>
                                  </p:stCondLst>
                                  <p:childTnLst>
                                    <p:set>
                                      <p:cBhvr>
                                        <p:cTn id="42" dur="1" fill="hold">
                                          <p:stCondLst>
                                            <p:cond delay="0"/>
                                          </p:stCondLst>
                                        </p:cTn>
                                        <p:tgtEl>
                                          <p:spTgt spid="9"/>
                                        </p:tgtEl>
                                        <p:attrNameLst>
                                          <p:attrName>style.visibility</p:attrName>
                                        </p:attrNameLst>
                                      </p:cBhvr>
                                      <p:to>
                                        <p:strVal val="visible"/>
                                      </p:to>
                                    </p:set>
                                    <p:animEffect transition="in" filter="fade">
                                      <p:cBhvr>
                                        <p:cTn id="43" dur="1000"/>
                                        <p:tgtEl>
                                          <p:spTgt spid="9"/>
                                        </p:tgtEl>
                                      </p:cBhvr>
                                    </p:animEffect>
                                    <p:anim calcmode="lin" valueType="num">
                                      <p:cBhvr>
                                        <p:cTn id="44" dur="1000" fill="hold"/>
                                        <p:tgtEl>
                                          <p:spTgt spid="9"/>
                                        </p:tgtEl>
                                        <p:attrNameLst>
                                          <p:attrName>ppt_x</p:attrName>
                                        </p:attrNameLst>
                                      </p:cBhvr>
                                      <p:tavLst>
                                        <p:tav tm="0">
                                          <p:val>
                                            <p:strVal val="#ppt_x"/>
                                          </p:val>
                                        </p:tav>
                                        <p:tav tm="100000">
                                          <p:val>
                                            <p:strVal val="#ppt_x"/>
                                          </p:val>
                                        </p:tav>
                                      </p:tavLst>
                                    </p:anim>
                                    <p:anim calcmode="lin" valueType="num">
                                      <p:cBhvr>
                                        <p:cTn id="45"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46" fill="hold">
                      <p:stCondLst>
                        <p:cond delay="indefinite"/>
                      </p:stCondLst>
                      <p:childTnLst>
                        <p:par>
                          <p:cTn id="47" fill="hold">
                            <p:stCondLst>
                              <p:cond delay="0"/>
                            </p:stCondLst>
                            <p:childTnLst>
                              <p:par>
                                <p:cTn id="48" presetID="2" presetClass="entr" presetSubtype="4" fill="hold" nodeType="clickEffect">
                                  <p:stCondLst>
                                    <p:cond delay="0"/>
                                  </p:stCondLst>
                                  <p:childTnLst>
                                    <p:set>
                                      <p:cBhvr>
                                        <p:cTn id="49" dur="1" fill="hold">
                                          <p:stCondLst>
                                            <p:cond delay="0"/>
                                          </p:stCondLst>
                                        </p:cTn>
                                        <p:tgtEl>
                                          <p:spTgt spid="11"/>
                                        </p:tgtEl>
                                        <p:attrNameLst>
                                          <p:attrName>style.visibility</p:attrName>
                                        </p:attrNameLst>
                                      </p:cBhvr>
                                      <p:to>
                                        <p:strVal val="visible"/>
                                      </p:to>
                                    </p:set>
                                    <p:anim calcmode="lin" valueType="num">
                                      <p:cBhvr additive="base">
                                        <p:cTn id="50" dur="500" fill="hold"/>
                                        <p:tgtEl>
                                          <p:spTgt spid="11"/>
                                        </p:tgtEl>
                                        <p:attrNameLst>
                                          <p:attrName>ppt_x</p:attrName>
                                        </p:attrNameLst>
                                      </p:cBhvr>
                                      <p:tavLst>
                                        <p:tav tm="0">
                                          <p:val>
                                            <p:strVal val="#ppt_x"/>
                                          </p:val>
                                        </p:tav>
                                        <p:tav tm="100000">
                                          <p:val>
                                            <p:strVal val="#ppt_x"/>
                                          </p:val>
                                        </p:tav>
                                      </p:tavLst>
                                    </p:anim>
                                    <p:anim calcmode="lin" valueType="num">
                                      <p:cBhvr additive="base">
                                        <p:cTn id="51"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13"/>
                                        </p:tgtEl>
                                        <p:attrNameLst>
                                          <p:attrName>style.visibility</p:attrName>
                                        </p:attrNameLst>
                                      </p:cBhvr>
                                      <p:to>
                                        <p:strVal val="visible"/>
                                      </p:to>
                                    </p:set>
                                    <p:animEffect transition="in" filter="fade">
                                      <p:cBhvr>
                                        <p:cTn id="56" dur="1000"/>
                                        <p:tgtEl>
                                          <p:spTgt spid="13"/>
                                        </p:tgtEl>
                                      </p:cBhvr>
                                    </p:animEffect>
                                    <p:anim calcmode="lin" valueType="num">
                                      <p:cBhvr>
                                        <p:cTn id="57" dur="1000" fill="hold"/>
                                        <p:tgtEl>
                                          <p:spTgt spid="13"/>
                                        </p:tgtEl>
                                        <p:attrNameLst>
                                          <p:attrName>ppt_x</p:attrName>
                                        </p:attrNameLst>
                                      </p:cBhvr>
                                      <p:tavLst>
                                        <p:tav tm="0">
                                          <p:val>
                                            <p:strVal val="#ppt_x"/>
                                          </p:val>
                                        </p:tav>
                                        <p:tav tm="100000">
                                          <p:val>
                                            <p:strVal val="#ppt_x"/>
                                          </p:val>
                                        </p:tav>
                                      </p:tavLst>
                                    </p:anim>
                                    <p:anim calcmode="lin" valueType="num">
                                      <p:cBhvr>
                                        <p:cTn id="58" dur="1000" fill="hold"/>
                                        <p:tgtEl>
                                          <p:spTgt spid="13"/>
                                        </p:tgtEl>
                                        <p:attrNameLst>
                                          <p:attrName>ppt_y</p:attrName>
                                        </p:attrNameLst>
                                      </p:cBhvr>
                                      <p:tavLst>
                                        <p:tav tm="0">
                                          <p:val>
                                            <p:strVal val="#ppt_y+.1"/>
                                          </p:val>
                                        </p:tav>
                                        <p:tav tm="100000">
                                          <p:val>
                                            <p:strVal val="#ppt_y"/>
                                          </p:val>
                                        </p:tav>
                                      </p:tavLst>
                                    </p:anim>
                                  </p:childTnLst>
                                </p:cTn>
                              </p:par>
                              <p:par>
                                <p:cTn id="59" presetID="42" presetClass="entr" presetSubtype="0" fill="hold" grpId="0" nodeType="withEffect">
                                  <p:stCondLst>
                                    <p:cond delay="0"/>
                                  </p:stCondLst>
                                  <p:childTnLst>
                                    <p:set>
                                      <p:cBhvr>
                                        <p:cTn id="60" dur="1" fill="hold">
                                          <p:stCondLst>
                                            <p:cond delay="0"/>
                                          </p:stCondLst>
                                        </p:cTn>
                                        <p:tgtEl>
                                          <p:spTgt spid="12"/>
                                        </p:tgtEl>
                                        <p:attrNameLst>
                                          <p:attrName>style.visibility</p:attrName>
                                        </p:attrNameLst>
                                      </p:cBhvr>
                                      <p:to>
                                        <p:strVal val="visible"/>
                                      </p:to>
                                    </p:set>
                                    <p:animEffect transition="in" filter="fade">
                                      <p:cBhvr>
                                        <p:cTn id="61" dur="1000"/>
                                        <p:tgtEl>
                                          <p:spTgt spid="12"/>
                                        </p:tgtEl>
                                      </p:cBhvr>
                                    </p:animEffect>
                                    <p:anim calcmode="lin" valueType="num">
                                      <p:cBhvr>
                                        <p:cTn id="62" dur="1000" fill="hold"/>
                                        <p:tgtEl>
                                          <p:spTgt spid="12"/>
                                        </p:tgtEl>
                                        <p:attrNameLst>
                                          <p:attrName>ppt_x</p:attrName>
                                        </p:attrNameLst>
                                      </p:cBhvr>
                                      <p:tavLst>
                                        <p:tav tm="0">
                                          <p:val>
                                            <p:strVal val="#ppt_x"/>
                                          </p:val>
                                        </p:tav>
                                        <p:tav tm="100000">
                                          <p:val>
                                            <p:strVal val="#ppt_x"/>
                                          </p:val>
                                        </p:tav>
                                      </p:tavLst>
                                    </p:anim>
                                    <p:anim calcmode="lin" valueType="num">
                                      <p:cBhvr>
                                        <p:cTn id="63"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P spid="7" grpId="0" animBg="1"/>
      <p:bldP spid="9" grpId="0" animBg="1"/>
      <p:bldP spid="10" grpId="0" animBg="1"/>
      <p:bldP spid="12" grpId="0" animBg="1"/>
      <p:bldP spid="13"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C0C0C"/>
          </a:solidFill>
          <a:ln/>
        </p:spPr>
        <p:txBody>
          <a:bodyPr/>
          <a:lstStyle/>
          <a:p>
            <a:endParaRPr lang="en-US"/>
          </a:p>
        </p:txBody>
      </p:sp>
      <p:sp>
        <p:nvSpPr>
          <p:cNvPr id="3" name="Shape 1"/>
          <p:cNvSpPr/>
          <p:nvPr/>
        </p:nvSpPr>
        <p:spPr>
          <a:xfrm>
            <a:off x="0" y="0"/>
            <a:ext cx="14630400" cy="8229600"/>
          </a:xfrm>
          <a:prstGeom prst="rect">
            <a:avLst/>
          </a:prstGeom>
          <a:solidFill>
            <a:srgbClr val="272525"/>
          </a:solidFill>
          <a:ln w="13811">
            <a:solidFill>
              <a:srgbClr val="565151"/>
            </a:solidFill>
            <a:prstDash val="solid"/>
          </a:ln>
        </p:spPr>
        <p:txBody>
          <a:bodyPr/>
          <a:lstStyle/>
          <a:p>
            <a:endParaRPr lang="en-US"/>
          </a:p>
        </p:txBody>
      </p:sp>
      <p:pic>
        <p:nvPicPr>
          <p:cNvPr id="4" name="Image 0" descr="preencoded.png"/>
          <p:cNvPicPr>
            <a:picLocks noChangeAspect="1"/>
          </p:cNvPicPr>
          <p:nvPr/>
        </p:nvPicPr>
        <p:blipFill>
          <a:blip r:embed="rId3"/>
          <a:stretch>
            <a:fillRect/>
          </a:stretch>
        </p:blipFill>
        <p:spPr>
          <a:xfrm>
            <a:off x="0" y="0"/>
            <a:ext cx="3657600" cy="8229600"/>
          </a:xfrm>
          <a:prstGeom prst="rect">
            <a:avLst/>
          </a:prstGeom>
        </p:spPr>
      </p:pic>
      <p:sp>
        <p:nvSpPr>
          <p:cNvPr id="5" name="Text 2"/>
          <p:cNvSpPr/>
          <p:nvPr/>
        </p:nvSpPr>
        <p:spPr>
          <a:xfrm>
            <a:off x="4490799" y="1443157"/>
            <a:ext cx="4443889" cy="694373"/>
          </a:xfrm>
          <a:prstGeom prst="rect">
            <a:avLst/>
          </a:prstGeom>
          <a:noFill/>
          <a:ln/>
        </p:spPr>
        <p:txBody>
          <a:bodyPr wrap="none" rtlCol="0" anchor="t"/>
          <a:lstStyle/>
          <a:p>
            <a:pPr marL="0" indent="0">
              <a:lnSpc>
                <a:spcPts val="5468"/>
              </a:lnSpc>
              <a:buNone/>
            </a:pPr>
            <a:r>
              <a:rPr lang="en-US" sz="4374" b="1" kern="0" spc="-131" dirty="0">
                <a:solidFill>
                  <a:srgbClr val="FFFFFF"/>
                </a:solidFill>
                <a:latin typeface="Inter" pitchFamily="34" charset="0"/>
                <a:ea typeface="Inter" pitchFamily="34" charset="-122"/>
                <a:cs typeface="Inter" pitchFamily="34" charset="-120"/>
              </a:rPr>
              <a:t>Conclusion</a:t>
            </a:r>
            <a:endParaRPr lang="en-US" sz="4374" dirty="0"/>
          </a:p>
        </p:txBody>
      </p:sp>
      <p:sp>
        <p:nvSpPr>
          <p:cNvPr id="6" name="Shape 3"/>
          <p:cNvSpPr/>
          <p:nvPr/>
        </p:nvSpPr>
        <p:spPr>
          <a:xfrm>
            <a:off x="4490799" y="2644378"/>
            <a:ext cx="499943" cy="499943"/>
          </a:xfrm>
          <a:prstGeom prst="roundRect">
            <a:avLst>
              <a:gd name="adj" fmla="val 20000"/>
            </a:avLst>
          </a:prstGeom>
          <a:solidFill>
            <a:srgbClr val="110080"/>
          </a:solidFill>
          <a:ln w="13811">
            <a:solidFill>
              <a:srgbClr val="140099"/>
            </a:solidFill>
            <a:prstDash val="solid"/>
          </a:ln>
        </p:spPr>
        <p:txBody>
          <a:bodyPr/>
          <a:lstStyle/>
          <a:p>
            <a:endParaRPr lang="en-US"/>
          </a:p>
        </p:txBody>
      </p:sp>
      <p:sp>
        <p:nvSpPr>
          <p:cNvPr id="7" name="Text 4"/>
          <p:cNvSpPr/>
          <p:nvPr/>
        </p:nvSpPr>
        <p:spPr>
          <a:xfrm>
            <a:off x="4661892" y="2686050"/>
            <a:ext cx="157758" cy="416481"/>
          </a:xfrm>
          <a:prstGeom prst="rect">
            <a:avLst/>
          </a:prstGeom>
          <a:noFill/>
          <a:ln/>
        </p:spPr>
        <p:txBody>
          <a:bodyPr wrap="none" rtlCol="0" anchor="t"/>
          <a:lstStyle/>
          <a:p>
            <a:pPr marL="0" indent="0" algn="ctr">
              <a:lnSpc>
                <a:spcPts val="3281"/>
              </a:lnSpc>
              <a:buNone/>
            </a:pPr>
            <a:r>
              <a:rPr lang="en-US" sz="2624" b="1" kern="0" spc="-79" dirty="0">
                <a:solidFill>
                  <a:srgbClr val="E5E0DF"/>
                </a:solidFill>
                <a:latin typeface="Inter" pitchFamily="34" charset="0"/>
                <a:ea typeface="Inter" pitchFamily="34" charset="-122"/>
                <a:cs typeface="Inter" pitchFamily="34" charset="-120"/>
              </a:rPr>
              <a:t>1</a:t>
            </a:r>
            <a:endParaRPr lang="en-US" sz="2624" dirty="0"/>
          </a:p>
        </p:txBody>
      </p:sp>
      <p:sp>
        <p:nvSpPr>
          <p:cNvPr id="8" name="Text 5"/>
          <p:cNvSpPr/>
          <p:nvPr/>
        </p:nvSpPr>
        <p:spPr>
          <a:xfrm>
            <a:off x="5212913" y="2720697"/>
            <a:ext cx="5977295" cy="347186"/>
          </a:xfrm>
          <a:prstGeom prst="rect">
            <a:avLst/>
          </a:prstGeom>
          <a:noFill/>
          <a:ln/>
        </p:spPr>
        <p:txBody>
          <a:bodyPr wrap="none" rtlCol="0" anchor="t"/>
          <a:lstStyle/>
          <a:p>
            <a:pPr marL="0" indent="0">
              <a:lnSpc>
                <a:spcPts val="2734"/>
              </a:lnSpc>
              <a:buNone/>
            </a:pPr>
            <a:r>
              <a:rPr lang="en-US" sz="2187" b="1" kern="0" spc="-66" dirty="0">
                <a:solidFill>
                  <a:srgbClr val="E5E0DF"/>
                </a:solidFill>
                <a:latin typeface="Inter" pitchFamily="34" charset="0"/>
                <a:ea typeface="Inter" pitchFamily="34" charset="-122"/>
                <a:cs typeface="Inter" pitchFamily="34" charset="-120"/>
              </a:rPr>
              <a:t>Reverse shells are a powerful tool for attackers.</a:t>
            </a:r>
            <a:endParaRPr lang="en-US" sz="2187" dirty="0"/>
          </a:p>
        </p:txBody>
      </p:sp>
      <p:sp>
        <p:nvSpPr>
          <p:cNvPr id="9" name="Text 6"/>
          <p:cNvSpPr/>
          <p:nvPr/>
        </p:nvSpPr>
        <p:spPr>
          <a:xfrm>
            <a:off x="5212913" y="3290054"/>
            <a:ext cx="8584287" cy="355402"/>
          </a:xfrm>
          <a:prstGeom prst="rect">
            <a:avLst/>
          </a:prstGeom>
          <a:noFill/>
          <a:ln/>
        </p:spPr>
        <p:txBody>
          <a:bodyPr wrap="none" rtlCol="0" anchor="t"/>
          <a:lstStyle/>
          <a:p>
            <a:pPr marL="0" indent="0">
              <a:lnSpc>
                <a:spcPts val="2799"/>
              </a:lnSpc>
              <a:buNone/>
            </a:pPr>
            <a:r>
              <a:rPr lang="en-US" sz="1750" kern="0" spc="-35" dirty="0">
                <a:solidFill>
                  <a:srgbClr val="E5E0DF"/>
                </a:solidFill>
                <a:latin typeface="Inter" pitchFamily="34" charset="0"/>
                <a:ea typeface="Inter" pitchFamily="34" charset="-122"/>
                <a:cs typeface="Inter" pitchFamily="34" charset="-120"/>
              </a:rPr>
              <a:t>They allow attackers to control compromised computers from a remote location.</a:t>
            </a:r>
            <a:endParaRPr lang="en-US" sz="1750" dirty="0"/>
          </a:p>
        </p:txBody>
      </p:sp>
      <p:sp>
        <p:nvSpPr>
          <p:cNvPr id="10" name="Shape 7"/>
          <p:cNvSpPr/>
          <p:nvPr/>
        </p:nvSpPr>
        <p:spPr>
          <a:xfrm>
            <a:off x="4490799" y="4041219"/>
            <a:ext cx="499943" cy="499943"/>
          </a:xfrm>
          <a:prstGeom prst="roundRect">
            <a:avLst>
              <a:gd name="adj" fmla="val 20000"/>
            </a:avLst>
          </a:prstGeom>
          <a:solidFill>
            <a:srgbClr val="110080"/>
          </a:solidFill>
          <a:ln w="13811">
            <a:solidFill>
              <a:srgbClr val="140099"/>
            </a:solidFill>
            <a:prstDash val="solid"/>
          </a:ln>
        </p:spPr>
        <p:txBody>
          <a:bodyPr/>
          <a:lstStyle/>
          <a:p>
            <a:endParaRPr lang="en-US"/>
          </a:p>
        </p:txBody>
      </p:sp>
      <p:sp>
        <p:nvSpPr>
          <p:cNvPr id="11" name="Text 8"/>
          <p:cNvSpPr/>
          <p:nvPr/>
        </p:nvSpPr>
        <p:spPr>
          <a:xfrm>
            <a:off x="4642842" y="4082891"/>
            <a:ext cx="195858" cy="416481"/>
          </a:xfrm>
          <a:prstGeom prst="rect">
            <a:avLst/>
          </a:prstGeom>
          <a:noFill/>
          <a:ln/>
        </p:spPr>
        <p:txBody>
          <a:bodyPr wrap="none" rtlCol="0" anchor="t"/>
          <a:lstStyle/>
          <a:p>
            <a:pPr marL="0" indent="0" algn="ctr">
              <a:lnSpc>
                <a:spcPts val="3281"/>
              </a:lnSpc>
              <a:buNone/>
            </a:pPr>
            <a:r>
              <a:rPr lang="en-US" sz="2624" b="1" kern="0" spc="-79" dirty="0">
                <a:solidFill>
                  <a:srgbClr val="E5E0DF"/>
                </a:solidFill>
                <a:latin typeface="Inter" pitchFamily="34" charset="0"/>
                <a:ea typeface="Inter" pitchFamily="34" charset="-122"/>
                <a:cs typeface="Inter" pitchFamily="34" charset="-120"/>
              </a:rPr>
              <a:t>2</a:t>
            </a:r>
            <a:endParaRPr lang="en-US" sz="2624" dirty="0"/>
          </a:p>
        </p:txBody>
      </p:sp>
      <p:sp>
        <p:nvSpPr>
          <p:cNvPr id="12" name="Text 9"/>
          <p:cNvSpPr/>
          <p:nvPr/>
        </p:nvSpPr>
        <p:spPr>
          <a:xfrm>
            <a:off x="5212913" y="4117538"/>
            <a:ext cx="6083975" cy="347186"/>
          </a:xfrm>
          <a:prstGeom prst="rect">
            <a:avLst/>
          </a:prstGeom>
          <a:noFill/>
          <a:ln/>
        </p:spPr>
        <p:txBody>
          <a:bodyPr wrap="none" rtlCol="0" anchor="t"/>
          <a:lstStyle/>
          <a:p>
            <a:pPr marL="0" indent="0">
              <a:lnSpc>
                <a:spcPts val="2734"/>
              </a:lnSpc>
              <a:buNone/>
            </a:pPr>
            <a:r>
              <a:rPr lang="en-US" sz="2187" b="1" kern="0" spc="-66" dirty="0">
                <a:solidFill>
                  <a:srgbClr val="E5E0DF"/>
                </a:solidFill>
                <a:latin typeface="Inter" pitchFamily="34" charset="0"/>
                <a:ea typeface="Inter" pitchFamily="34" charset="-122"/>
                <a:cs typeface="Inter" pitchFamily="34" charset="-120"/>
              </a:rPr>
              <a:t>There are many different types of reverse shells.</a:t>
            </a:r>
            <a:endParaRPr lang="en-US" sz="2187" dirty="0"/>
          </a:p>
        </p:txBody>
      </p:sp>
      <p:sp>
        <p:nvSpPr>
          <p:cNvPr id="13" name="Text 10"/>
          <p:cNvSpPr/>
          <p:nvPr/>
        </p:nvSpPr>
        <p:spPr>
          <a:xfrm>
            <a:off x="5212913" y="4686895"/>
            <a:ext cx="8584287" cy="355402"/>
          </a:xfrm>
          <a:prstGeom prst="rect">
            <a:avLst/>
          </a:prstGeom>
          <a:noFill/>
          <a:ln/>
        </p:spPr>
        <p:txBody>
          <a:bodyPr wrap="none" rtlCol="0" anchor="t"/>
          <a:lstStyle/>
          <a:p>
            <a:pPr marL="0" indent="0">
              <a:lnSpc>
                <a:spcPts val="2799"/>
              </a:lnSpc>
              <a:buNone/>
            </a:pPr>
            <a:r>
              <a:rPr lang="en-US" sz="1750" kern="0" spc="-35" dirty="0">
                <a:solidFill>
                  <a:srgbClr val="E5E0DF"/>
                </a:solidFill>
                <a:latin typeface="Inter" pitchFamily="34" charset="0"/>
                <a:ea typeface="Inter" pitchFamily="34" charset="-122"/>
                <a:cs typeface="Inter" pitchFamily="34" charset="-120"/>
              </a:rPr>
              <a:t>These range from simple command-line tools to advanced malware frameworks.</a:t>
            </a:r>
            <a:endParaRPr lang="en-US" sz="1750" dirty="0"/>
          </a:p>
        </p:txBody>
      </p:sp>
      <p:sp>
        <p:nvSpPr>
          <p:cNvPr id="14" name="Shape 11"/>
          <p:cNvSpPr/>
          <p:nvPr/>
        </p:nvSpPr>
        <p:spPr>
          <a:xfrm>
            <a:off x="4490799" y="5438061"/>
            <a:ext cx="499943" cy="499943"/>
          </a:xfrm>
          <a:prstGeom prst="roundRect">
            <a:avLst>
              <a:gd name="adj" fmla="val 20000"/>
            </a:avLst>
          </a:prstGeom>
          <a:solidFill>
            <a:srgbClr val="110080"/>
          </a:solidFill>
          <a:ln w="13811">
            <a:solidFill>
              <a:srgbClr val="140099"/>
            </a:solidFill>
            <a:prstDash val="solid"/>
          </a:ln>
        </p:spPr>
        <p:txBody>
          <a:bodyPr/>
          <a:lstStyle/>
          <a:p>
            <a:endParaRPr lang="en-US"/>
          </a:p>
        </p:txBody>
      </p:sp>
      <p:sp>
        <p:nvSpPr>
          <p:cNvPr id="15" name="Text 12"/>
          <p:cNvSpPr/>
          <p:nvPr/>
        </p:nvSpPr>
        <p:spPr>
          <a:xfrm>
            <a:off x="4639032" y="5479733"/>
            <a:ext cx="203478" cy="416481"/>
          </a:xfrm>
          <a:prstGeom prst="rect">
            <a:avLst/>
          </a:prstGeom>
          <a:noFill/>
          <a:ln/>
        </p:spPr>
        <p:txBody>
          <a:bodyPr wrap="none" rtlCol="0" anchor="t"/>
          <a:lstStyle/>
          <a:p>
            <a:pPr marL="0" indent="0" algn="ctr">
              <a:lnSpc>
                <a:spcPts val="3281"/>
              </a:lnSpc>
              <a:buNone/>
            </a:pPr>
            <a:r>
              <a:rPr lang="en-US" sz="2624" b="1" kern="0" spc="-79" dirty="0">
                <a:solidFill>
                  <a:srgbClr val="E5E0DF"/>
                </a:solidFill>
                <a:latin typeface="Inter" pitchFamily="34" charset="0"/>
                <a:ea typeface="Inter" pitchFamily="34" charset="-122"/>
                <a:cs typeface="Inter" pitchFamily="34" charset="-120"/>
              </a:rPr>
              <a:t>3</a:t>
            </a:r>
            <a:endParaRPr lang="en-US" sz="2624" dirty="0"/>
          </a:p>
        </p:txBody>
      </p:sp>
      <p:sp>
        <p:nvSpPr>
          <p:cNvPr id="16" name="Text 13"/>
          <p:cNvSpPr/>
          <p:nvPr/>
        </p:nvSpPr>
        <p:spPr>
          <a:xfrm>
            <a:off x="5212913" y="5514380"/>
            <a:ext cx="8584287" cy="694373"/>
          </a:xfrm>
          <a:prstGeom prst="rect">
            <a:avLst/>
          </a:prstGeom>
          <a:noFill/>
          <a:ln/>
        </p:spPr>
        <p:txBody>
          <a:bodyPr wrap="square" rtlCol="0" anchor="t"/>
          <a:lstStyle/>
          <a:p>
            <a:pPr marL="0" indent="0">
              <a:lnSpc>
                <a:spcPts val="2734"/>
              </a:lnSpc>
              <a:buNone/>
            </a:pPr>
            <a:r>
              <a:rPr lang="en-US" sz="2187" b="1" kern="0" spc="-66" dirty="0">
                <a:solidFill>
                  <a:srgbClr val="E5E0DF"/>
                </a:solidFill>
                <a:latin typeface="Inter" pitchFamily="34" charset="0"/>
                <a:ea typeface="Inter" pitchFamily="34" charset="-122"/>
                <a:cs typeface="Inter" pitchFamily="34" charset="-120"/>
              </a:rPr>
              <a:t>Generating payloads for reverse shells requires knowledge of programming and network security.</a:t>
            </a:r>
            <a:endParaRPr lang="en-US" sz="2187" dirty="0"/>
          </a:p>
        </p:txBody>
      </p:sp>
      <p:sp>
        <p:nvSpPr>
          <p:cNvPr id="17" name="Text 14"/>
          <p:cNvSpPr/>
          <p:nvPr/>
        </p:nvSpPr>
        <p:spPr>
          <a:xfrm>
            <a:off x="5212913" y="6430923"/>
            <a:ext cx="8584287" cy="355402"/>
          </a:xfrm>
          <a:prstGeom prst="rect">
            <a:avLst/>
          </a:prstGeom>
          <a:noFill/>
          <a:ln/>
        </p:spPr>
        <p:txBody>
          <a:bodyPr wrap="none" rtlCol="0" anchor="t"/>
          <a:lstStyle/>
          <a:p>
            <a:pPr marL="0" indent="0">
              <a:lnSpc>
                <a:spcPts val="2799"/>
              </a:lnSpc>
              <a:buNone/>
            </a:pPr>
            <a:r>
              <a:rPr lang="en-US" sz="1750" kern="0" spc="-35" dirty="0">
                <a:solidFill>
                  <a:srgbClr val="E5E0DF"/>
                </a:solidFill>
                <a:latin typeface="Inter" pitchFamily="34" charset="0"/>
                <a:ea typeface="Inter" pitchFamily="34" charset="-122"/>
                <a:cs typeface="Inter" pitchFamily="34" charset="-120"/>
              </a:rPr>
              <a:t>Tools like Metasploit and Python can help simplify the process.</a:t>
            </a:r>
            <a:endParaRPr lang="en-US" sz="175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par>
                                <p:cTn id="17" presetID="42" presetClass="entr" presetSubtype="0" fill="hold" grpId="0" nodeType="with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1000"/>
                                        <p:tgtEl>
                                          <p:spTgt spid="6"/>
                                        </p:tgtEl>
                                      </p:cBhvr>
                                    </p:animEffect>
                                    <p:anim calcmode="lin" valueType="num">
                                      <p:cBhvr>
                                        <p:cTn id="20" dur="1000" fill="hold"/>
                                        <p:tgtEl>
                                          <p:spTgt spid="6"/>
                                        </p:tgtEl>
                                        <p:attrNameLst>
                                          <p:attrName>ppt_x</p:attrName>
                                        </p:attrNameLst>
                                      </p:cBhvr>
                                      <p:tavLst>
                                        <p:tav tm="0">
                                          <p:val>
                                            <p:strVal val="#ppt_x"/>
                                          </p:val>
                                        </p:tav>
                                        <p:tav tm="100000">
                                          <p:val>
                                            <p:strVal val="#ppt_x"/>
                                          </p:val>
                                        </p:tav>
                                      </p:tavLst>
                                    </p:anim>
                                    <p:anim calcmode="lin" valueType="num">
                                      <p:cBhvr>
                                        <p:cTn id="21" dur="1000" fill="hold"/>
                                        <p:tgtEl>
                                          <p:spTgt spid="6"/>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8"/>
                                        </p:tgtEl>
                                        <p:attrNameLst>
                                          <p:attrName>style.visibility</p:attrName>
                                        </p:attrNameLst>
                                      </p:cBhvr>
                                      <p:to>
                                        <p:strVal val="visible"/>
                                      </p:to>
                                    </p:set>
                                    <p:animEffect transition="in" filter="fade">
                                      <p:cBhvr>
                                        <p:cTn id="24" dur="1000"/>
                                        <p:tgtEl>
                                          <p:spTgt spid="8"/>
                                        </p:tgtEl>
                                      </p:cBhvr>
                                    </p:animEffect>
                                    <p:anim calcmode="lin" valueType="num">
                                      <p:cBhvr>
                                        <p:cTn id="25" dur="1000" fill="hold"/>
                                        <p:tgtEl>
                                          <p:spTgt spid="8"/>
                                        </p:tgtEl>
                                        <p:attrNameLst>
                                          <p:attrName>ppt_x</p:attrName>
                                        </p:attrNameLst>
                                      </p:cBhvr>
                                      <p:tavLst>
                                        <p:tav tm="0">
                                          <p:val>
                                            <p:strVal val="#ppt_x"/>
                                          </p:val>
                                        </p:tav>
                                        <p:tav tm="100000">
                                          <p:val>
                                            <p:strVal val="#ppt_x"/>
                                          </p:val>
                                        </p:tav>
                                      </p:tavLst>
                                    </p:anim>
                                    <p:anim calcmode="lin" valueType="num">
                                      <p:cBhvr>
                                        <p:cTn id="26" dur="1000" fill="hold"/>
                                        <p:tgtEl>
                                          <p:spTgt spid="8"/>
                                        </p:tgtEl>
                                        <p:attrNameLst>
                                          <p:attrName>ppt_y</p:attrName>
                                        </p:attrNameLst>
                                      </p:cBhvr>
                                      <p:tavLst>
                                        <p:tav tm="0">
                                          <p:val>
                                            <p:strVal val="#ppt_y+.1"/>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9"/>
                                        </p:tgtEl>
                                        <p:attrNameLst>
                                          <p:attrName>style.visibility</p:attrName>
                                        </p:attrNameLst>
                                      </p:cBhvr>
                                      <p:to>
                                        <p:strVal val="visible"/>
                                      </p:to>
                                    </p:set>
                                    <p:animEffect transition="in" filter="fade">
                                      <p:cBhvr>
                                        <p:cTn id="29" dur="1000"/>
                                        <p:tgtEl>
                                          <p:spTgt spid="9"/>
                                        </p:tgtEl>
                                      </p:cBhvr>
                                    </p:animEffect>
                                    <p:anim calcmode="lin" valueType="num">
                                      <p:cBhvr>
                                        <p:cTn id="30" dur="1000" fill="hold"/>
                                        <p:tgtEl>
                                          <p:spTgt spid="9"/>
                                        </p:tgtEl>
                                        <p:attrNameLst>
                                          <p:attrName>ppt_x</p:attrName>
                                        </p:attrNameLst>
                                      </p:cBhvr>
                                      <p:tavLst>
                                        <p:tav tm="0">
                                          <p:val>
                                            <p:strVal val="#ppt_x"/>
                                          </p:val>
                                        </p:tav>
                                        <p:tav tm="100000">
                                          <p:val>
                                            <p:strVal val="#ppt_x"/>
                                          </p:val>
                                        </p:tav>
                                      </p:tavLst>
                                    </p:anim>
                                    <p:anim calcmode="lin" valueType="num">
                                      <p:cBhvr>
                                        <p:cTn id="31"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42" presetClass="entr" presetSubtype="0" fill="hold" grpId="0" nodeType="clickEffect">
                                  <p:stCondLst>
                                    <p:cond delay="0"/>
                                  </p:stCondLst>
                                  <p:childTnLst>
                                    <p:set>
                                      <p:cBhvr>
                                        <p:cTn id="35" dur="1" fill="hold">
                                          <p:stCondLst>
                                            <p:cond delay="0"/>
                                          </p:stCondLst>
                                        </p:cTn>
                                        <p:tgtEl>
                                          <p:spTgt spid="11"/>
                                        </p:tgtEl>
                                        <p:attrNameLst>
                                          <p:attrName>style.visibility</p:attrName>
                                        </p:attrNameLst>
                                      </p:cBhvr>
                                      <p:to>
                                        <p:strVal val="visible"/>
                                      </p:to>
                                    </p:set>
                                    <p:animEffect transition="in" filter="fade">
                                      <p:cBhvr>
                                        <p:cTn id="36" dur="1000"/>
                                        <p:tgtEl>
                                          <p:spTgt spid="11"/>
                                        </p:tgtEl>
                                      </p:cBhvr>
                                    </p:animEffect>
                                    <p:anim calcmode="lin" valueType="num">
                                      <p:cBhvr>
                                        <p:cTn id="37" dur="1000" fill="hold"/>
                                        <p:tgtEl>
                                          <p:spTgt spid="11"/>
                                        </p:tgtEl>
                                        <p:attrNameLst>
                                          <p:attrName>ppt_x</p:attrName>
                                        </p:attrNameLst>
                                      </p:cBhvr>
                                      <p:tavLst>
                                        <p:tav tm="0">
                                          <p:val>
                                            <p:strVal val="#ppt_x"/>
                                          </p:val>
                                        </p:tav>
                                        <p:tav tm="100000">
                                          <p:val>
                                            <p:strVal val="#ppt_x"/>
                                          </p:val>
                                        </p:tav>
                                      </p:tavLst>
                                    </p:anim>
                                    <p:anim calcmode="lin" valueType="num">
                                      <p:cBhvr>
                                        <p:cTn id="38" dur="1000" fill="hold"/>
                                        <p:tgtEl>
                                          <p:spTgt spid="11"/>
                                        </p:tgtEl>
                                        <p:attrNameLst>
                                          <p:attrName>ppt_y</p:attrName>
                                        </p:attrNameLst>
                                      </p:cBhvr>
                                      <p:tavLst>
                                        <p:tav tm="0">
                                          <p:val>
                                            <p:strVal val="#ppt_y+.1"/>
                                          </p:val>
                                        </p:tav>
                                        <p:tav tm="100000">
                                          <p:val>
                                            <p:strVal val="#ppt_y"/>
                                          </p:val>
                                        </p:tav>
                                      </p:tavLst>
                                    </p:anim>
                                  </p:childTnLst>
                                </p:cTn>
                              </p:par>
                              <p:par>
                                <p:cTn id="39" presetID="42" presetClass="entr" presetSubtype="0" fill="hold" grpId="0" nodeType="withEffect">
                                  <p:stCondLst>
                                    <p:cond delay="0"/>
                                  </p:stCondLst>
                                  <p:childTnLst>
                                    <p:set>
                                      <p:cBhvr>
                                        <p:cTn id="40" dur="1" fill="hold">
                                          <p:stCondLst>
                                            <p:cond delay="0"/>
                                          </p:stCondLst>
                                        </p:cTn>
                                        <p:tgtEl>
                                          <p:spTgt spid="10"/>
                                        </p:tgtEl>
                                        <p:attrNameLst>
                                          <p:attrName>style.visibility</p:attrName>
                                        </p:attrNameLst>
                                      </p:cBhvr>
                                      <p:to>
                                        <p:strVal val="visible"/>
                                      </p:to>
                                    </p:set>
                                    <p:animEffect transition="in" filter="fade">
                                      <p:cBhvr>
                                        <p:cTn id="41" dur="1000"/>
                                        <p:tgtEl>
                                          <p:spTgt spid="10"/>
                                        </p:tgtEl>
                                      </p:cBhvr>
                                    </p:animEffect>
                                    <p:anim calcmode="lin" valueType="num">
                                      <p:cBhvr>
                                        <p:cTn id="42" dur="1000" fill="hold"/>
                                        <p:tgtEl>
                                          <p:spTgt spid="10"/>
                                        </p:tgtEl>
                                        <p:attrNameLst>
                                          <p:attrName>ppt_x</p:attrName>
                                        </p:attrNameLst>
                                      </p:cBhvr>
                                      <p:tavLst>
                                        <p:tav tm="0">
                                          <p:val>
                                            <p:strVal val="#ppt_x"/>
                                          </p:val>
                                        </p:tav>
                                        <p:tav tm="100000">
                                          <p:val>
                                            <p:strVal val="#ppt_x"/>
                                          </p:val>
                                        </p:tav>
                                      </p:tavLst>
                                    </p:anim>
                                    <p:anim calcmode="lin" valueType="num">
                                      <p:cBhvr>
                                        <p:cTn id="43" dur="1000" fill="hold"/>
                                        <p:tgtEl>
                                          <p:spTgt spid="10"/>
                                        </p:tgtEl>
                                        <p:attrNameLst>
                                          <p:attrName>ppt_y</p:attrName>
                                        </p:attrNameLst>
                                      </p:cBhvr>
                                      <p:tavLst>
                                        <p:tav tm="0">
                                          <p:val>
                                            <p:strVal val="#ppt_y+.1"/>
                                          </p:val>
                                        </p:tav>
                                        <p:tav tm="100000">
                                          <p:val>
                                            <p:strVal val="#ppt_y"/>
                                          </p:val>
                                        </p:tav>
                                      </p:tavLst>
                                    </p:anim>
                                  </p:childTnLst>
                                </p:cTn>
                              </p:par>
                              <p:par>
                                <p:cTn id="44" presetID="42" presetClass="entr" presetSubtype="0" fill="hold" grpId="0" nodeType="withEffect">
                                  <p:stCondLst>
                                    <p:cond delay="0"/>
                                  </p:stCondLst>
                                  <p:childTnLst>
                                    <p:set>
                                      <p:cBhvr>
                                        <p:cTn id="45" dur="1" fill="hold">
                                          <p:stCondLst>
                                            <p:cond delay="0"/>
                                          </p:stCondLst>
                                        </p:cTn>
                                        <p:tgtEl>
                                          <p:spTgt spid="12"/>
                                        </p:tgtEl>
                                        <p:attrNameLst>
                                          <p:attrName>style.visibility</p:attrName>
                                        </p:attrNameLst>
                                      </p:cBhvr>
                                      <p:to>
                                        <p:strVal val="visible"/>
                                      </p:to>
                                    </p:set>
                                    <p:animEffect transition="in" filter="fade">
                                      <p:cBhvr>
                                        <p:cTn id="46" dur="1000"/>
                                        <p:tgtEl>
                                          <p:spTgt spid="12"/>
                                        </p:tgtEl>
                                      </p:cBhvr>
                                    </p:animEffect>
                                    <p:anim calcmode="lin" valueType="num">
                                      <p:cBhvr>
                                        <p:cTn id="47" dur="1000" fill="hold"/>
                                        <p:tgtEl>
                                          <p:spTgt spid="12"/>
                                        </p:tgtEl>
                                        <p:attrNameLst>
                                          <p:attrName>ppt_x</p:attrName>
                                        </p:attrNameLst>
                                      </p:cBhvr>
                                      <p:tavLst>
                                        <p:tav tm="0">
                                          <p:val>
                                            <p:strVal val="#ppt_x"/>
                                          </p:val>
                                        </p:tav>
                                        <p:tav tm="100000">
                                          <p:val>
                                            <p:strVal val="#ppt_x"/>
                                          </p:val>
                                        </p:tav>
                                      </p:tavLst>
                                    </p:anim>
                                    <p:anim calcmode="lin" valueType="num">
                                      <p:cBhvr>
                                        <p:cTn id="48" dur="1000" fill="hold"/>
                                        <p:tgtEl>
                                          <p:spTgt spid="12"/>
                                        </p:tgtEl>
                                        <p:attrNameLst>
                                          <p:attrName>ppt_y</p:attrName>
                                        </p:attrNameLst>
                                      </p:cBhvr>
                                      <p:tavLst>
                                        <p:tav tm="0">
                                          <p:val>
                                            <p:strVal val="#ppt_y+.1"/>
                                          </p:val>
                                        </p:tav>
                                        <p:tav tm="100000">
                                          <p:val>
                                            <p:strVal val="#ppt_y"/>
                                          </p:val>
                                        </p:tav>
                                      </p:tavLst>
                                    </p:anim>
                                  </p:childTnLst>
                                </p:cTn>
                              </p:par>
                              <p:par>
                                <p:cTn id="49" presetID="42" presetClass="entr" presetSubtype="0" fill="hold" grpId="0" nodeType="withEffect">
                                  <p:stCondLst>
                                    <p:cond delay="0"/>
                                  </p:stCondLst>
                                  <p:childTnLst>
                                    <p:set>
                                      <p:cBhvr>
                                        <p:cTn id="50" dur="1" fill="hold">
                                          <p:stCondLst>
                                            <p:cond delay="0"/>
                                          </p:stCondLst>
                                        </p:cTn>
                                        <p:tgtEl>
                                          <p:spTgt spid="13"/>
                                        </p:tgtEl>
                                        <p:attrNameLst>
                                          <p:attrName>style.visibility</p:attrName>
                                        </p:attrNameLst>
                                      </p:cBhvr>
                                      <p:to>
                                        <p:strVal val="visible"/>
                                      </p:to>
                                    </p:set>
                                    <p:animEffect transition="in" filter="fade">
                                      <p:cBhvr>
                                        <p:cTn id="51" dur="1000"/>
                                        <p:tgtEl>
                                          <p:spTgt spid="13"/>
                                        </p:tgtEl>
                                      </p:cBhvr>
                                    </p:animEffect>
                                    <p:anim calcmode="lin" valueType="num">
                                      <p:cBhvr>
                                        <p:cTn id="52" dur="1000" fill="hold"/>
                                        <p:tgtEl>
                                          <p:spTgt spid="13"/>
                                        </p:tgtEl>
                                        <p:attrNameLst>
                                          <p:attrName>ppt_x</p:attrName>
                                        </p:attrNameLst>
                                      </p:cBhvr>
                                      <p:tavLst>
                                        <p:tav tm="0">
                                          <p:val>
                                            <p:strVal val="#ppt_x"/>
                                          </p:val>
                                        </p:tav>
                                        <p:tav tm="100000">
                                          <p:val>
                                            <p:strVal val="#ppt_x"/>
                                          </p:val>
                                        </p:tav>
                                      </p:tavLst>
                                    </p:anim>
                                    <p:anim calcmode="lin" valueType="num">
                                      <p:cBhvr>
                                        <p:cTn id="53"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54" fill="hold">
                      <p:stCondLst>
                        <p:cond delay="indefinite"/>
                      </p:stCondLst>
                      <p:childTnLst>
                        <p:par>
                          <p:cTn id="55" fill="hold">
                            <p:stCondLst>
                              <p:cond delay="0"/>
                            </p:stCondLst>
                            <p:childTnLst>
                              <p:par>
                                <p:cTn id="56" presetID="42" presetClass="entr" presetSubtype="0" fill="hold" grpId="0" nodeType="clickEffect">
                                  <p:stCondLst>
                                    <p:cond delay="0"/>
                                  </p:stCondLst>
                                  <p:childTnLst>
                                    <p:set>
                                      <p:cBhvr>
                                        <p:cTn id="57" dur="1" fill="hold">
                                          <p:stCondLst>
                                            <p:cond delay="0"/>
                                          </p:stCondLst>
                                        </p:cTn>
                                        <p:tgtEl>
                                          <p:spTgt spid="15"/>
                                        </p:tgtEl>
                                        <p:attrNameLst>
                                          <p:attrName>style.visibility</p:attrName>
                                        </p:attrNameLst>
                                      </p:cBhvr>
                                      <p:to>
                                        <p:strVal val="visible"/>
                                      </p:to>
                                    </p:set>
                                    <p:animEffect transition="in" filter="fade">
                                      <p:cBhvr>
                                        <p:cTn id="58" dur="1000"/>
                                        <p:tgtEl>
                                          <p:spTgt spid="15"/>
                                        </p:tgtEl>
                                      </p:cBhvr>
                                    </p:animEffect>
                                    <p:anim calcmode="lin" valueType="num">
                                      <p:cBhvr>
                                        <p:cTn id="59" dur="1000" fill="hold"/>
                                        <p:tgtEl>
                                          <p:spTgt spid="15"/>
                                        </p:tgtEl>
                                        <p:attrNameLst>
                                          <p:attrName>ppt_x</p:attrName>
                                        </p:attrNameLst>
                                      </p:cBhvr>
                                      <p:tavLst>
                                        <p:tav tm="0">
                                          <p:val>
                                            <p:strVal val="#ppt_x"/>
                                          </p:val>
                                        </p:tav>
                                        <p:tav tm="100000">
                                          <p:val>
                                            <p:strVal val="#ppt_x"/>
                                          </p:val>
                                        </p:tav>
                                      </p:tavLst>
                                    </p:anim>
                                    <p:anim calcmode="lin" valueType="num">
                                      <p:cBhvr>
                                        <p:cTn id="60" dur="1000" fill="hold"/>
                                        <p:tgtEl>
                                          <p:spTgt spid="15"/>
                                        </p:tgtEl>
                                        <p:attrNameLst>
                                          <p:attrName>ppt_y</p:attrName>
                                        </p:attrNameLst>
                                      </p:cBhvr>
                                      <p:tavLst>
                                        <p:tav tm="0">
                                          <p:val>
                                            <p:strVal val="#ppt_y+.1"/>
                                          </p:val>
                                        </p:tav>
                                        <p:tav tm="100000">
                                          <p:val>
                                            <p:strVal val="#ppt_y"/>
                                          </p:val>
                                        </p:tav>
                                      </p:tavLst>
                                    </p:anim>
                                  </p:childTnLst>
                                </p:cTn>
                              </p:par>
                              <p:par>
                                <p:cTn id="61" presetID="42" presetClass="entr" presetSubtype="0" fill="hold" grpId="0" nodeType="withEffect">
                                  <p:stCondLst>
                                    <p:cond delay="0"/>
                                  </p:stCondLst>
                                  <p:childTnLst>
                                    <p:set>
                                      <p:cBhvr>
                                        <p:cTn id="62" dur="1" fill="hold">
                                          <p:stCondLst>
                                            <p:cond delay="0"/>
                                          </p:stCondLst>
                                        </p:cTn>
                                        <p:tgtEl>
                                          <p:spTgt spid="14"/>
                                        </p:tgtEl>
                                        <p:attrNameLst>
                                          <p:attrName>style.visibility</p:attrName>
                                        </p:attrNameLst>
                                      </p:cBhvr>
                                      <p:to>
                                        <p:strVal val="visible"/>
                                      </p:to>
                                    </p:set>
                                    <p:animEffect transition="in" filter="fade">
                                      <p:cBhvr>
                                        <p:cTn id="63" dur="1000"/>
                                        <p:tgtEl>
                                          <p:spTgt spid="14"/>
                                        </p:tgtEl>
                                      </p:cBhvr>
                                    </p:animEffect>
                                    <p:anim calcmode="lin" valueType="num">
                                      <p:cBhvr>
                                        <p:cTn id="64" dur="1000" fill="hold"/>
                                        <p:tgtEl>
                                          <p:spTgt spid="14"/>
                                        </p:tgtEl>
                                        <p:attrNameLst>
                                          <p:attrName>ppt_x</p:attrName>
                                        </p:attrNameLst>
                                      </p:cBhvr>
                                      <p:tavLst>
                                        <p:tav tm="0">
                                          <p:val>
                                            <p:strVal val="#ppt_x"/>
                                          </p:val>
                                        </p:tav>
                                        <p:tav tm="100000">
                                          <p:val>
                                            <p:strVal val="#ppt_x"/>
                                          </p:val>
                                        </p:tav>
                                      </p:tavLst>
                                    </p:anim>
                                    <p:anim calcmode="lin" valueType="num">
                                      <p:cBhvr>
                                        <p:cTn id="65" dur="1000" fill="hold"/>
                                        <p:tgtEl>
                                          <p:spTgt spid="14"/>
                                        </p:tgtEl>
                                        <p:attrNameLst>
                                          <p:attrName>ppt_y</p:attrName>
                                        </p:attrNameLst>
                                      </p:cBhvr>
                                      <p:tavLst>
                                        <p:tav tm="0">
                                          <p:val>
                                            <p:strVal val="#ppt_y+.1"/>
                                          </p:val>
                                        </p:tav>
                                        <p:tav tm="100000">
                                          <p:val>
                                            <p:strVal val="#ppt_y"/>
                                          </p:val>
                                        </p:tav>
                                      </p:tavLst>
                                    </p:anim>
                                  </p:childTnLst>
                                </p:cTn>
                              </p:par>
                              <p:par>
                                <p:cTn id="66" presetID="42" presetClass="entr" presetSubtype="0" fill="hold" grpId="0" nodeType="withEffect">
                                  <p:stCondLst>
                                    <p:cond delay="0"/>
                                  </p:stCondLst>
                                  <p:childTnLst>
                                    <p:set>
                                      <p:cBhvr>
                                        <p:cTn id="67" dur="1" fill="hold">
                                          <p:stCondLst>
                                            <p:cond delay="0"/>
                                          </p:stCondLst>
                                        </p:cTn>
                                        <p:tgtEl>
                                          <p:spTgt spid="16"/>
                                        </p:tgtEl>
                                        <p:attrNameLst>
                                          <p:attrName>style.visibility</p:attrName>
                                        </p:attrNameLst>
                                      </p:cBhvr>
                                      <p:to>
                                        <p:strVal val="visible"/>
                                      </p:to>
                                    </p:set>
                                    <p:animEffect transition="in" filter="fade">
                                      <p:cBhvr>
                                        <p:cTn id="68" dur="1000"/>
                                        <p:tgtEl>
                                          <p:spTgt spid="16"/>
                                        </p:tgtEl>
                                      </p:cBhvr>
                                    </p:animEffect>
                                    <p:anim calcmode="lin" valueType="num">
                                      <p:cBhvr>
                                        <p:cTn id="69" dur="1000" fill="hold"/>
                                        <p:tgtEl>
                                          <p:spTgt spid="16"/>
                                        </p:tgtEl>
                                        <p:attrNameLst>
                                          <p:attrName>ppt_x</p:attrName>
                                        </p:attrNameLst>
                                      </p:cBhvr>
                                      <p:tavLst>
                                        <p:tav tm="0">
                                          <p:val>
                                            <p:strVal val="#ppt_x"/>
                                          </p:val>
                                        </p:tav>
                                        <p:tav tm="100000">
                                          <p:val>
                                            <p:strVal val="#ppt_x"/>
                                          </p:val>
                                        </p:tav>
                                      </p:tavLst>
                                    </p:anim>
                                    <p:anim calcmode="lin" valueType="num">
                                      <p:cBhvr>
                                        <p:cTn id="70" dur="1000" fill="hold"/>
                                        <p:tgtEl>
                                          <p:spTgt spid="16"/>
                                        </p:tgtEl>
                                        <p:attrNameLst>
                                          <p:attrName>ppt_y</p:attrName>
                                        </p:attrNameLst>
                                      </p:cBhvr>
                                      <p:tavLst>
                                        <p:tav tm="0">
                                          <p:val>
                                            <p:strVal val="#ppt_y+.1"/>
                                          </p:val>
                                        </p:tav>
                                        <p:tav tm="100000">
                                          <p:val>
                                            <p:strVal val="#ppt_y"/>
                                          </p:val>
                                        </p:tav>
                                      </p:tavLst>
                                    </p:anim>
                                  </p:childTnLst>
                                </p:cTn>
                              </p:par>
                              <p:par>
                                <p:cTn id="71" presetID="42" presetClass="entr" presetSubtype="0" fill="hold" grpId="0" nodeType="withEffect">
                                  <p:stCondLst>
                                    <p:cond delay="0"/>
                                  </p:stCondLst>
                                  <p:childTnLst>
                                    <p:set>
                                      <p:cBhvr>
                                        <p:cTn id="72" dur="1" fill="hold">
                                          <p:stCondLst>
                                            <p:cond delay="0"/>
                                          </p:stCondLst>
                                        </p:cTn>
                                        <p:tgtEl>
                                          <p:spTgt spid="17"/>
                                        </p:tgtEl>
                                        <p:attrNameLst>
                                          <p:attrName>style.visibility</p:attrName>
                                        </p:attrNameLst>
                                      </p:cBhvr>
                                      <p:to>
                                        <p:strVal val="visible"/>
                                      </p:to>
                                    </p:set>
                                    <p:animEffect transition="in" filter="fade">
                                      <p:cBhvr>
                                        <p:cTn id="73" dur="1000"/>
                                        <p:tgtEl>
                                          <p:spTgt spid="17"/>
                                        </p:tgtEl>
                                      </p:cBhvr>
                                    </p:animEffect>
                                    <p:anim calcmode="lin" valueType="num">
                                      <p:cBhvr>
                                        <p:cTn id="74" dur="1000" fill="hold"/>
                                        <p:tgtEl>
                                          <p:spTgt spid="17"/>
                                        </p:tgtEl>
                                        <p:attrNameLst>
                                          <p:attrName>ppt_x</p:attrName>
                                        </p:attrNameLst>
                                      </p:cBhvr>
                                      <p:tavLst>
                                        <p:tav tm="0">
                                          <p:val>
                                            <p:strVal val="#ppt_x"/>
                                          </p:val>
                                        </p:tav>
                                        <p:tav tm="100000">
                                          <p:val>
                                            <p:strVal val="#ppt_x"/>
                                          </p:val>
                                        </p:tav>
                                      </p:tavLst>
                                    </p:anim>
                                    <p:anim calcmode="lin" valueType="num">
                                      <p:cBhvr>
                                        <p:cTn id="75" dur="1000" fill="hold"/>
                                        <p:tgtEl>
                                          <p:spTgt spid="1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C0C0C"/>
          </a:solidFill>
          <a:ln/>
        </p:spPr>
        <p:txBody>
          <a:bodyPr/>
          <a:lstStyle/>
          <a:p>
            <a:endParaRPr lang="en-US"/>
          </a:p>
        </p:txBody>
      </p:sp>
      <p:sp>
        <p:nvSpPr>
          <p:cNvPr id="3" name="Shape 1"/>
          <p:cNvSpPr/>
          <p:nvPr/>
        </p:nvSpPr>
        <p:spPr>
          <a:xfrm>
            <a:off x="0" y="71120"/>
            <a:ext cx="14630400" cy="8229600"/>
          </a:xfrm>
          <a:prstGeom prst="rect">
            <a:avLst/>
          </a:prstGeom>
          <a:solidFill>
            <a:srgbClr val="272525"/>
          </a:solidFill>
          <a:ln w="13811">
            <a:solidFill>
              <a:srgbClr val="565151"/>
            </a:solidFill>
            <a:prstDash val="solid"/>
          </a:ln>
        </p:spPr>
        <p:txBody>
          <a:bodyPr/>
          <a:lstStyle/>
          <a:p>
            <a:endParaRPr lang="en-US" dirty="0"/>
          </a:p>
        </p:txBody>
      </p:sp>
      <p:sp>
        <p:nvSpPr>
          <p:cNvPr id="4" name="Text 2"/>
          <p:cNvSpPr/>
          <p:nvPr/>
        </p:nvSpPr>
        <p:spPr>
          <a:xfrm>
            <a:off x="0" y="3058102"/>
            <a:ext cx="11059451" cy="2255636"/>
          </a:xfrm>
          <a:prstGeom prst="rect">
            <a:avLst/>
          </a:prstGeom>
          <a:noFill/>
          <a:ln/>
        </p:spPr>
        <p:txBody>
          <a:bodyPr wrap="none" rtlCol="0" anchor="t"/>
          <a:lstStyle/>
          <a:p>
            <a:pPr algn="just">
              <a:lnSpc>
                <a:spcPts val="5468"/>
              </a:lnSpc>
            </a:pPr>
            <a:r>
              <a:rPr lang="en-US" sz="4000" dirty="0">
                <a:solidFill>
                  <a:schemeClr val="bg1"/>
                </a:solidFill>
                <a:latin typeface="Eras Bold ITC" panose="020B0907030504020204" pitchFamily="34" charset="0"/>
                <a:ea typeface="Inter"/>
              </a:rPr>
              <a:t>Let's progress to the practical demonstration of </a:t>
            </a:r>
          </a:p>
          <a:p>
            <a:pPr algn="just">
              <a:lnSpc>
                <a:spcPts val="5468"/>
              </a:lnSpc>
            </a:pPr>
            <a:r>
              <a:rPr lang="en-US" sz="4000" dirty="0">
                <a:solidFill>
                  <a:schemeClr val="bg1"/>
                </a:solidFill>
                <a:latin typeface="Eras Bold ITC" panose="020B0907030504020204" pitchFamily="34" charset="0"/>
                <a:ea typeface="Inter"/>
              </a:rPr>
              <a:t>gaining reverse shell access to the victim's computer, </a:t>
            </a:r>
          </a:p>
          <a:p>
            <a:pPr algn="just">
              <a:lnSpc>
                <a:spcPts val="5468"/>
              </a:lnSpc>
            </a:pPr>
            <a:r>
              <a:rPr lang="en-US" sz="4000" dirty="0">
                <a:solidFill>
                  <a:schemeClr val="bg1"/>
                </a:solidFill>
                <a:latin typeface="Eras Bold ITC" panose="020B0907030504020204" pitchFamily="34" charset="0"/>
                <a:ea typeface="Inter"/>
              </a:rPr>
              <a:t>achieved by injecting a payload</a:t>
            </a:r>
            <a:r>
              <a:rPr lang="en-US" sz="1600" dirty="0"/>
              <a:t>.</a:t>
            </a:r>
            <a:endParaRPr lang="en-US" sz="4800" b="1" kern="0" spc="-131" dirty="0">
              <a:solidFill>
                <a:srgbClr val="FFFFFF"/>
              </a:solidFill>
              <a:latin typeface="Eras Demi ITC" panose="020B0805030504020804" pitchFamily="34" charset="0"/>
              <a:ea typeface="Inter" pitchFamily="34" charset="-122"/>
            </a:endParaRPr>
          </a:p>
          <a:p>
            <a:pPr algn="just">
              <a:lnSpc>
                <a:spcPts val="5468"/>
              </a:lnSpc>
            </a:pPr>
            <a:endParaRPr lang="en-US" sz="4800" b="1" kern="0" spc="-131" dirty="0">
              <a:solidFill>
                <a:srgbClr val="FFFFFF"/>
              </a:solidFill>
              <a:latin typeface="Eras Demi ITC" panose="020B0805030504020804" pitchFamily="34" charset="0"/>
              <a:ea typeface="Inter"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wipe(left)">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wipe(left)">
                                      <p:cBhvr>
                                        <p:cTn id="12" dur="5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wipe(left)">
                                      <p:cBhvr>
                                        <p:cTn id="17" dur="500"/>
                                        <p:tgtEl>
                                          <p:spTgt spid="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164</TotalTime>
  <Words>637</Words>
  <Application>Microsoft Office PowerPoint</Application>
  <PresentationFormat>Custom</PresentationFormat>
  <Paragraphs>61</Paragraphs>
  <Slides>8</Slides>
  <Notes>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vt:i4>
      </vt:variant>
    </vt:vector>
  </HeadingPairs>
  <TitlesOfParts>
    <vt:vector size="14" baseType="lpstr">
      <vt:lpstr>Arial</vt:lpstr>
      <vt:lpstr>Eras Bold ITC</vt:lpstr>
      <vt:lpstr>Eras Demi ITC</vt:lpstr>
      <vt:lpstr>Inter</vt:lpstr>
      <vt:lpstr>Rockwell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Alyan Gulzar</dc:creator>
  <cp:lastModifiedBy>Shoaib Khan</cp:lastModifiedBy>
  <cp:revision>18</cp:revision>
  <dcterms:created xsi:type="dcterms:W3CDTF">2023-11-27T20:13:47Z</dcterms:created>
  <dcterms:modified xsi:type="dcterms:W3CDTF">2026-07-07T10:37:07Z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defa4170-0d19-0005-0004-bc88714345d2_Enabled">
    <vt:lpwstr>true</vt:lpwstr>
  </property>
  <property fmtid="{D5CDD505-2E9C-101B-9397-08002B2CF9AE}" pid="3" name="MSIP_Label_defa4170-0d19-0005-0004-bc88714345d2_SetDate">
    <vt:lpwstr>2023-11-27T20:18:27Z</vt:lpwstr>
  </property>
  <property fmtid="{D5CDD505-2E9C-101B-9397-08002B2CF9AE}" pid="4" name="MSIP_Label_defa4170-0d19-0005-0004-bc88714345d2_Method">
    <vt:lpwstr>Standard</vt:lpwstr>
  </property>
  <property fmtid="{D5CDD505-2E9C-101B-9397-08002B2CF9AE}" pid="5" name="MSIP_Label_defa4170-0d19-0005-0004-bc88714345d2_Name">
    <vt:lpwstr>defa4170-0d19-0005-0004-bc88714345d2</vt:lpwstr>
  </property>
  <property fmtid="{D5CDD505-2E9C-101B-9397-08002B2CF9AE}" pid="6" name="MSIP_Label_defa4170-0d19-0005-0004-bc88714345d2_SiteId">
    <vt:lpwstr>2cfeda35-de71-485d-947b-48f6b6b78b18</vt:lpwstr>
  </property>
  <property fmtid="{D5CDD505-2E9C-101B-9397-08002B2CF9AE}" pid="7" name="MSIP_Label_defa4170-0d19-0005-0004-bc88714345d2_ActionId">
    <vt:lpwstr>c4155fdf-0d94-499b-9091-397586d82616</vt:lpwstr>
  </property>
  <property fmtid="{D5CDD505-2E9C-101B-9397-08002B2CF9AE}" pid="8" name="MSIP_Label_defa4170-0d19-0005-0004-bc88714345d2_ContentBits">
    <vt:lpwstr>0</vt:lpwstr>
  </property>
</Properties>
</file>